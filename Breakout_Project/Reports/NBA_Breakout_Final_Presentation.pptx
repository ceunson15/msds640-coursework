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66" r:id="rId4"/>
    <p:sldId id="264" r:id="rId5"/>
    <p:sldId id="265" r:id="rId6"/>
    <p:sldId id="262" r:id="rId7"/>
    <p:sldId id="258" r:id="rId8"/>
    <p:sldId id="259" r:id="rId9"/>
    <p:sldId id="280" r:id="rId10"/>
    <p:sldId id="281" r:id="rId11"/>
    <p:sldId id="260" r:id="rId12"/>
    <p:sldId id="261" r:id="rId13"/>
    <p:sldId id="282" r:id="rId14"/>
    <p:sldId id="283" r:id="rId15"/>
    <p:sldId id="284" r:id="rId16"/>
    <p:sldId id="267" r:id="rId17"/>
    <p:sldId id="263" r:id="rId18"/>
    <p:sldId id="287" r:id="rId19"/>
    <p:sldId id="285" r:id="rId20"/>
    <p:sldId id="288" r:id="rId21"/>
    <p:sldId id="286" r:id="rId22"/>
    <p:sldId id="289" r:id="rId23"/>
    <p:sldId id="290" r:id="rId24"/>
    <p:sldId id="268" r:id="rId25"/>
    <p:sldId id="269" r:id="rId26"/>
    <p:sldId id="291" r:id="rId27"/>
    <p:sldId id="292" r:id="rId28"/>
    <p:sldId id="270" r:id="rId29"/>
    <p:sldId id="293" r:id="rId30"/>
    <p:sldId id="272" r:id="rId31"/>
    <p:sldId id="273" r:id="rId32"/>
    <p:sldId id="277" r:id="rId33"/>
    <p:sldId id="27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1" autoAdjust="0"/>
    <p:restoredTop sz="94660"/>
  </p:normalViewPr>
  <p:slideViewPr>
    <p:cSldViewPr snapToGrid="0">
      <p:cViewPr varScale="1">
        <p:scale>
          <a:sx n="70" d="100"/>
          <a:sy n="70" d="100"/>
        </p:scale>
        <p:origin x="6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B64E2E-C587-48DC-9B79-D380CD3D714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45D6517-33F1-4EBA-A2A1-191FBE2F3287}">
      <dgm:prSet/>
      <dgm:spPr/>
      <dgm:t>
        <a:bodyPr/>
        <a:lstStyle/>
        <a:p>
          <a:r>
            <a:rPr lang="en-US"/>
            <a:t>Introduction and Background Research</a:t>
          </a:r>
        </a:p>
      </dgm:t>
    </dgm:pt>
    <dgm:pt modelId="{31F807FF-18B1-4934-898F-F27B678C48C2}" type="parTrans" cxnId="{90920ED6-0F64-4EA1-BA70-DF0726C590F5}">
      <dgm:prSet/>
      <dgm:spPr/>
      <dgm:t>
        <a:bodyPr/>
        <a:lstStyle/>
        <a:p>
          <a:endParaRPr lang="en-US"/>
        </a:p>
      </dgm:t>
    </dgm:pt>
    <dgm:pt modelId="{CC30E4F6-CD4E-4FFF-A765-DB8E836168D0}" type="sibTrans" cxnId="{90920ED6-0F64-4EA1-BA70-DF0726C590F5}">
      <dgm:prSet/>
      <dgm:spPr/>
      <dgm:t>
        <a:bodyPr/>
        <a:lstStyle/>
        <a:p>
          <a:endParaRPr lang="en-US"/>
        </a:p>
      </dgm:t>
    </dgm:pt>
    <dgm:pt modelId="{F885DB7A-3A34-42B7-A306-54BAE430BDE6}">
      <dgm:prSet/>
      <dgm:spPr/>
      <dgm:t>
        <a:bodyPr/>
        <a:lstStyle/>
        <a:p>
          <a:r>
            <a:rPr lang="en-US"/>
            <a:t>Data Information and Exploration</a:t>
          </a:r>
        </a:p>
      </dgm:t>
    </dgm:pt>
    <dgm:pt modelId="{DAF6F1FD-B002-4EAF-AFF5-FF621BACE324}" type="parTrans" cxnId="{F22046D6-5021-4504-89EC-700318440598}">
      <dgm:prSet/>
      <dgm:spPr/>
      <dgm:t>
        <a:bodyPr/>
        <a:lstStyle/>
        <a:p>
          <a:endParaRPr lang="en-US"/>
        </a:p>
      </dgm:t>
    </dgm:pt>
    <dgm:pt modelId="{23817547-89DD-46C2-8FE7-8E5529BC8CF2}" type="sibTrans" cxnId="{F22046D6-5021-4504-89EC-700318440598}">
      <dgm:prSet/>
      <dgm:spPr/>
      <dgm:t>
        <a:bodyPr/>
        <a:lstStyle/>
        <a:p>
          <a:endParaRPr lang="en-US"/>
        </a:p>
      </dgm:t>
    </dgm:pt>
    <dgm:pt modelId="{064BCE2B-7949-4BD2-9D66-097830980268}">
      <dgm:prSet/>
      <dgm:spPr/>
      <dgm:t>
        <a:bodyPr/>
        <a:lstStyle/>
        <a:p>
          <a:r>
            <a:rPr lang="en-US"/>
            <a:t>Model Methodologies</a:t>
          </a:r>
        </a:p>
      </dgm:t>
    </dgm:pt>
    <dgm:pt modelId="{9E6884B7-B981-4711-8B40-98AD8100C196}" type="parTrans" cxnId="{829C8E62-EC80-4A3F-B786-898B568A30C1}">
      <dgm:prSet/>
      <dgm:spPr/>
      <dgm:t>
        <a:bodyPr/>
        <a:lstStyle/>
        <a:p>
          <a:endParaRPr lang="en-US"/>
        </a:p>
      </dgm:t>
    </dgm:pt>
    <dgm:pt modelId="{7D6CCD1F-0A3A-4AFA-8F3C-AFA9D386322D}" type="sibTrans" cxnId="{829C8E62-EC80-4A3F-B786-898B568A30C1}">
      <dgm:prSet/>
      <dgm:spPr/>
      <dgm:t>
        <a:bodyPr/>
        <a:lstStyle/>
        <a:p>
          <a:endParaRPr lang="en-US"/>
        </a:p>
      </dgm:t>
    </dgm:pt>
    <dgm:pt modelId="{FE4B0BA4-197F-40AE-A7AF-ACD9D7C899DF}">
      <dgm:prSet/>
      <dgm:spPr/>
      <dgm:t>
        <a:bodyPr/>
        <a:lstStyle/>
        <a:p>
          <a:r>
            <a:rPr lang="en-US"/>
            <a:t>Results and Statistical Analysis</a:t>
          </a:r>
        </a:p>
      </dgm:t>
    </dgm:pt>
    <dgm:pt modelId="{FA8F237F-9700-40A7-93A8-7D709A149531}" type="parTrans" cxnId="{E62222D5-C15C-4A01-B2E2-3DD317375C65}">
      <dgm:prSet/>
      <dgm:spPr/>
      <dgm:t>
        <a:bodyPr/>
        <a:lstStyle/>
        <a:p>
          <a:endParaRPr lang="en-US"/>
        </a:p>
      </dgm:t>
    </dgm:pt>
    <dgm:pt modelId="{284D3B9C-A707-4B48-B0C7-9EA86368B209}" type="sibTrans" cxnId="{E62222D5-C15C-4A01-B2E2-3DD317375C65}">
      <dgm:prSet/>
      <dgm:spPr/>
      <dgm:t>
        <a:bodyPr/>
        <a:lstStyle/>
        <a:p>
          <a:endParaRPr lang="en-US"/>
        </a:p>
      </dgm:t>
    </dgm:pt>
    <dgm:pt modelId="{FBF84800-59F2-4B14-A0EF-7DCBF9337019}">
      <dgm:prSet/>
      <dgm:spPr/>
      <dgm:t>
        <a:bodyPr/>
        <a:lstStyle/>
        <a:p>
          <a:r>
            <a:rPr lang="en-US"/>
            <a:t>Overall Project Takeaways</a:t>
          </a:r>
        </a:p>
      </dgm:t>
    </dgm:pt>
    <dgm:pt modelId="{46231D13-F349-4E0F-A7C3-133BF64E5375}" type="parTrans" cxnId="{DC30EFFC-8FCC-45E8-9BEC-4B30597AAD92}">
      <dgm:prSet/>
      <dgm:spPr/>
      <dgm:t>
        <a:bodyPr/>
        <a:lstStyle/>
        <a:p>
          <a:endParaRPr lang="en-US"/>
        </a:p>
      </dgm:t>
    </dgm:pt>
    <dgm:pt modelId="{D4E31E87-4ACB-41AF-9A31-BB464BACEAB3}" type="sibTrans" cxnId="{DC30EFFC-8FCC-45E8-9BEC-4B30597AAD92}">
      <dgm:prSet/>
      <dgm:spPr/>
      <dgm:t>
        <a:bodyPr/>
        <a:lstStyle/>
        <a:p>
          <a:endParaRPr lang="en-US"/>
        </a:p>
      </dgm:t>
    </dgm:pt>
    <dgm:pt modelId="{D2EE93D9-FFA7-4E37-9F20-FFA28084081A}">
      <dgm:prSet/>
      <dgm:spPr/>
      <dgm:t>
        <a:bodyPr/>
        <a:lstStyle/>
        <a:p>
          <a:r>
            <a:rPr lang="en-US"/>
            <a:t>Library Citations and Reproducibility Details</a:t>
          </a:r>
        </a:p>
      </dgm:t>
    </dgm:pt>
    <dgm:pt modelId="{44E13B27-AD0E-435C-BB59-47FE3B7B2F14}" type="parTrans" cxnId="{E9E2C05B-B5B5-45FA-92CA-3FC6C8B24EB6}">
      <dgm:prSet/>
      <dgm:spPr/>
      <dgm:t>
        <a:bodyPr/>
        <a:lstStyle/>
        <a:p>
          <a:endParaRPr lang="en-US"/>
        </a:p>
      </dgm:t>
    </dgm:pt>
    <dgm:pt modelId="{E6CDE08D-4677-40DA-91D2-10DDDB48624F}" type="sibTrans" cxnId="{E9E2C05B-B5B5-45FA-92CA-3FC6C8B24EB6}">
      <dgm:prSet/>
      <dgm:spPr/>
      <dgm:t>
        <a:bodyPr/>
        <a:lstStyle/>
        <a:p>
          <a:endParaRPr lang="en-US"/>
        </a:p>
      </dgm:t>
    </dgm:pt>
    <dgm:pt modelId="{77006753-8ED6-4556-9179-9D03D40A8326}" type="pres">
      <dgm:prSet presAssocID="{30B64E2E-C587-48DC-9B79-D380CD3D7145}" presName="vert0" presStyleCnt="0">
        <dgm:presLayoutVars>
          <dgm:dir/>
          <dgm:animOne val="branch"/>
          <dgm:animLvl val="lvl"/>
        </dgm:presLayoutVars>
      </dgm:prSet>
      <dgm:spPr/>
    </dgm:pt>
    <dgm:pt modelId="{ADF5FBDC-ECA1-42B5-86A4-2FC30BFE51FA}" type="pres">
      <dgm:prSet presAssocID="{D45D6517-33F1-4EBA-A2A1-191FBE2F3287}" presName="thickLine" presStyleLbl="alignNode1" presStyleIdx="0" presStyleCnt="6"/>
      <dgm:spPr/>
    </dgm:pt>
    <dgm:pt modelId="{B1F21F1C-2CC7-4A6E-A933-7E90A7B35B6A}" type="pres">
      <dgm:prSet presAssocID="{D45D6517-33F1-4EBA-A2A1-191FBE2F3287}" presName="horz1" presStyleCnt="0"/>
      <dgm:spPr/>
    </dgm:pt>
    <dgm:pt modelId="{B492BCCB-C5EA-41F8-9234-52BF8436D8D2}" type="pres">
      <dgm:prSet presAssocID="{D45D6517-33F1-4EBA-A2A1-191FBE2F3287}" presName="tx1" presStyleLbl="revTx" presStyleIdx="0" presStyleCnt="6"/>
      <dgm:spPr/>
    </dgm:pt>
    <dgm:pt modelId="{95128C57-FACD-47FE-AE8E-0365E3D8F1E1}" type="pres">
      <dgm:prSet presAssocID="{D45D6517-33F1-4EBA-A2A1-191FBE2F3287}" presName="vert1" presStyleCnt="0"/>
      <dgm:spPr/>
    </dgm:pt>
    <dgm:pt modelId="{895CC745-5F6C-46E2-8800-D531B14E884B}" type="pres">
      <dgm:prSet presAssocID="{F885DB7A-3A34-42B7-A306-54BAE430BDE6}" presName="thickLine" presStyleLbl="alignNode1" presStyleIdx="1" presStyleCnt="6"/>
      <dgm:spPr/>
    </dgm:pt>
    <dgm:pt modelId="{BFD114FE-09C5-4D01-AE64-ED22B12E0AC5}" type="pres">
      <dgm:prSet presAssocID="{F885DB7A-3A34-42B7-A306-54BAE430BDE6}" presName="horz1" presStyleCnt="0"/>
      <dgm:spPr/>
    </dgm:pt>
    <dgm:pt modelId="{31218227-B688-44E9-94C1-9D4A838978DA}" type="pres">
      <dgm:prSet presAssocID="{F885DB7A-3A34-42B7-A306-54BAE430BDE6}" presName="tx1" presStyleLbl="revTx" presStyleIdx="1" presStyleCnt="6"/>
      <dgm:spPr/>
    </dgm:pt>
    <dgm:pt modelId="{3CDAD24D-4A74-4CBC-BB12-9FF1D285B161}" type="pres">
      <dgm:prSet presAssocID="{F885DB7A-3A34-42B7-A306-54BAE430BDE6}" presName="vert1" presStyleCnt="0"/>
      <dgm:spPr/>
    </dgm:pt>
    <dgm:pt modelId="{7CDB39FE-95FF-45CE-9ABE-80E5365DE1B7}" type="pres">
      <dgm:prSet presAssocID="{064BCE2B-7949-4BD2-9D66-097830980268}" presName="thickLine" presStyleLbl="alignNode1" presStyleIdx="2" presStyleCnt="6"/>
      <dgm:spPr/>
    </dgm:pt>
    <dgm:pt modelId="{498402F4-A832-45D2-B363-272EF4FB3FF1}" type="pres">
      <dgm:prSet presAssocID="{064BCE2B-7949-4BD2-9D66-097830980268}" presName="horz1" presStyleCnt="0"/>
      <dgm:spPr/>
    </dgm:pt>
    <dgm:pt modelId="{A357D9F0-18A0-4FA4-A4A1-A5996E24F799}" type="pres">
      <dgm:prSet presAssocID="{064BCE2B-7949-4BD2-9D66-097830980268}" presName="tx1" presStyleLbl="revTx" presStyleIdx="2" presStyleCnt="6"/>
      <dgm:spPr/>
    </dgm:pt>
    <dgm:pt modelId="{AD459BFF-C4A9-471B-BB33-10E01127DCFB}" type="pres">
      <dgm:prSet presAssocID="{064BCE2B-7949-4BD2-9D66-097830980268}" presName="vert1" presStyleCnt="0"/>
      <dgm:spPr/>
    </dgm:pt>
    <dgm:pt modelId="{49730C72-68AE-46B3-90F0-06E3660A4C2C}" type="pres">
      <dgm:prSet presAssocID="{FE4B0BA4-197F-40AE-A7AF-ACD9D7C899DF}" presName="thickLine" presStyleLbl="alignNode1" presStyleIdx="3" presStyleCnt="6"/>
      <dgm:spPr/>
    </dgm:pt>
    <dgm:pt modelId="{5FAF323D-B8C6-413C-9701-43A39EE31F0D}" type="pres">
      <dgm:prSet presAssocID="{FE4B0BA4-197F-40AE-A7AF-ACD9D7C899DF}" presName="horz1" presStyleCnt="0"/>
      <dgm:spPr/>
    </dgm:pt>
    <dgm:pt modelId="{5A70D4DC-06D8-4B17-B1EA-AB3A3C2F85A7}" type="pres">
      <dgm:prSet presAssocID="{FE4B0BA4-197F-40AE-A7AF-ACD9D7C899DF}" presName="tx1" presStyleLbl="revTx" presStyleIdx="3" presStyleCnt="6"/>
      <dgm:spPr/>
    </dgm:pt>
    <dgm:pt modelId="{0A36A03C-F08F-4756-9D8D-34E2FC2A53D6}" type="pres">
      <dgm:prSet presAssocID="{FE4B0BA4-197F-40AE-A7AF-ACD9D7C899DF}" presName="vert1" presStyleCnt="0"/>
      <dgm:spPr/>
    </dgm:pt>
    <dgm:pt modelId="{6302A7E5-8C68-42D0-AD66-0C8FAB0C0841}" type="pres">
      <dgm:prSet presAssocID="{FBF84800-59F2-4B14-A0EF-7DCBF9337019}" presName="thickLine" presStyleLbl="alignNode1" presStyleIdx="4" presStyleCnt="6"/>
      <dgm:spPr/>
    </dgm:pt>
    <dgm:pt modelId="{0B9679AC-3A8A-4CA5-9690-D9E24EAE20F5}" type="pres">
      <dgm:prSet presAssocID="{FBF84800-59F2-4B14-A0EF-7DCBF9337019}" presName="horz1" presStyleCnt="0"/>
      <dgm:spPr/>
    </dgm:pt>
    <dgm:pt modelId="{7E5EF259-6551-44C3-A90C-8B22D5DB7017}" type="pres">
      <dgm:prSet presAssocID="{FBF84800-59F2-4B14-A0EF-7DCBF9337019}" presName="tx1" presStyleLbl="revTx" presStyleIdx="4" presStyleCnt="6"/>
      <dgm:spPr/>
    </dgm:pt>
    <dgm:pt modelId="{E00EA8E6-383B-4B11-964F-C82280612AE0}" type="pres">
      <dgm:prSet presAssocID="{FBF84800-59F2-4B14-A0EF-7DCBF9337019}" presName="vert1" presStyleCnt="0"/>
      <dgm:spPr/>
    </dgm:pt>
    <dgm:pt modelId="{6A15175A-5E0D-4939-91C4-62F9B830A57E}" type="pres">
      <dgm:prSet presAssocID="{D2EE93D9-FFA7-4E37-9F20-FFA28084081A}" presName="thickLine" presStyleLbl="alignNode1" presStyleIdx="5" presStyleCnt="6"/>
      <dgm:spPr/>
    </dgm:pt>
    <dgm:pt modelId="{103793BB-7DD4-46D9-9BC4-BADAC602E128}" type="pres">
      <dgm:prSet presAssocID="{D2EE93D9-FFA7-4E37-9F20-FFA28084081A}" presName="horz1" presStyleCnt="0"/>
      <dgm:spPr/>
    </dgm:pt>
    <dgm:pt modelId="{10BD96F2-E726-4799-B2B1-8C883D46E25E}" type="pres">
      <dgm:prSet presAssocID="{D2EE93D9-FFA7-4E37-9F20-FFA28084081A}" presName="tx1" presStyleLbl="revTx" presStyleIdx="5" presStyleCnt="6"/>
      <dgm:spPr/>
    </dgm:pt>
    <dgm:pt modelId="{83A63DA4-2477-49C4-AC8D-F2BFBF60A838}" type="pres">
      <dgm:prSet presAssocID="{D2EE93D9-FFA7-4E37-9F20-FFA28084081A}" presName="vert1" presStyleCnt="0"/>
      <dgm:spPr/>
    </dgm:pt>
  </dgm:ptLst>
  <dgm:cxnLst>
    <dgm:cxn modelId="{7F78393C-4EDD-40FD-A61E-A25D84FD0035}" type="presOf" srcId="{FE4B0BA4-197F-40AE-A7AF-ACD9D7C899DF}" destId="{5A70D4DC-06D8-4B17-B1EA-AB3A3C2F85A7}" srcOrd="0" destOrd="0" presId="urn:microsoft.com/office/officeart/2008/layout/LinedList"/>
    <dgm:cxn modelId="{E9E2C05B-B5B5-45FA-92CA-3FC6C8B24EB6}" srcId="{30B64E2E-C587-48DC-9B79-D380CD3D7145}" destId="{D2EE93D9-FFA7-4E37-9F20-FFA28084081A}" srcOrd="5" destOrd="0" parTransId="{44E13B27-AD0E-435C-BB59-47FE3B7B2F14}" sibTransId="{E6CDE08D-4677-40DA-91D2-10DDDB48624F}"/>
    <dgm:cxn modelId="{CE31D45D-805F-4E92-8A73-A0A8C5E342B5}" type="presOf" srcId="{064BCE2B-7949-4BD2-9D66-097830980268}" destId="{A357D9F0-18A0-4FA4-A4A1-A5996E24F799}" srcOrd="0" destOrd="0" presId="urn:microsoft.com/office/officeart/2008/layout/LinedList"/>
    <dgm:cxn modelId="{829C8E62-EC80-4A3F-B786-898B568A30C1}" srcId="{30B64E2E-C587-48DC-9B79-D380CD3D7145}" destId="{064BCE2B-7949-4BD2-9D66-097830980268}" srcOrd="2" destOrd="0" parTransId="{9E6884B7-B981-4711-8B40-98AD8100C196}" sibTransId="{7D6CCD1F-0A3A-4AFA-8F3C-AFA9D386322D}"/>
    <dgm:cxn modelId="{656277B0-590C-4143-BCE7-96D2F713860A}" type="presOf" srcId="{D2EE93D9-FFA7-4E37-9F20-FFA28084081A}" destId="{10BD96F2-E726-4799-B2B1-8C883D46E25E}" srcOrd="0" destOrd="0" presId="urn:microsoft.com/office/officeart/2008/layout/LinedList"/>
    <dgm:cxn modelId="{F7266ED4-A47F-4B95-B41A-1882D8F6B217}" type="presOf" srcId="{F885DB7A-3A34-42B7-A306-54BAE430BDE6}" destId="{31218227-B688-44E9-94C1-9D4A838978DA}" srcOrd="0" destOrd="0" presId="urn:microsoft.com/office/officeart/2008/layout/LinedList"/>
    <dgm:cxn modelId="{E62222D5-C15C-4A01-B2E2-3DD317375C65}" srcId="{30B64E2E-C587-48DC-9B79-D380CD3D7145}" destId="{FE4B0BA4-197F-40AE-A7AF-ACD9D7C899DF}" srcOrd="3" destOrd="0" parTransId="{FA8F237F-9700-40A7-93A8-7D709A149531}" sibTransId="{284D3B9C-A707-4B48-B0C7-9EA86368B209}"/>
    <dgm:cxn modelId="{90920ED6-0F64-4EA1-BA70-DF0726C590F5}" srcId="{30B64E2E-C587-48DC-9B79-D380CD3D7145}" destId="{D45D6517-33F1-4EBA-A2A1-191FBE2F3287}" srcOrd="0" destOrd="0" parTransId="{31F807FF-18B1-4934-898F-F27B678C48C2}" sibTransId="{CC30E4F6-CD4E-4FFF-A765-DB8E836168D0}"/>
    <dgm:cxn modelId="{F22046D6-5021-4504-89EC-700318440598}" srcId="{30B64E2E-C587-48DC-9B79-D380CD3D7145}" destId="{F885DB7A-3A34-42B7-A306-54BAE430BDE6}" srcOrd="1" destOrd="0" parTransId="{DAF6F1FD-B002-4EAF-AFF5-FF621BACE324}" sibTransId="{23817547-89DD-46C2-8FE7-8E5529BC8CF2}"/>
    <dgm:cxn modelId="{5B0576E5-E54B-4AD2-AC17-106B0BAA35A4}" type="presOf" srcId="{30B64E2E-C587-48DC-9B79-D380CD3D7145}" destId="{77006753-8ED6-4556-9179-9D03D40A8326}" srcOrd="0" destOrd="0" presId="urn:microsoft.com/office/officeart/2008/layout/LinedList"/>
    <dgm:cxn modelId="{B6D22EE7-5AB2-45E9-A130-61147262FF91}" type="presOf" srcId="{FBF84800-59F2-4B14-A0EF-7DCBF9337019}" destId="{7E5EF259-6551-44C3-A90C-8B22D5DB7017}" srcOrd="0" destOrd="0" presId="urn:microsoft.com/office/officeart/2008/layout/LinedList"/>
    <dgm:cxn modelId="{16A74EFA-B129-4751-B2CF-7B863657B751}" type="presOf" srcId="{D45D6517-33F1-4EBA-A2A1-191FBE2F3287}" destId="{B492BCCB-C5EA-41F8-9234-52BF8436D8D2}" srcOrd="0" destOrd="0" presId="urn:microsoft.com/office/officeart/2008/layout/LinedList"/>
    <dgm:cxn modelId="{DC30EFFC-8FCC-45E8-9BEC-4B30597AAD92}" srcId="{30B64E2E-C587-48DC-9B79-D380CD3D7145}" destId="{FBF84800-59F2-4B14-A0EF-7DCBF9337019}" srcOrd="4" destOrd="0" parTransId="{46231D13-F349-4E0F-A7C3-133BF64E5375}" sibTransId="{D4E31E87-4ACB-41AF-9A31-BB464BACEAB3}"/>
    <dgm:cxn modelId="{9DDE2860-6A0F-4D5F-8947-60435266BFE3}" type="presParOf" srcId="{77006753-8ED6-4556-9179-9D03D40A8326}" destId="{ADF5FBDC-ECA1-42B5-86A4-2FC30BFE51FA}" srcOrd="0" destOrd="0" presId="urn:microsoft.com/office/officeart/2008/layout/LinedList"/>
    <dgm:cxn modelId="{B336EE7D-9DDB-42EF-9E2B-D8126C16624B}" type="presParOf" srcId="{77006753-8ED6-4556-9179-9D03D40A8326}" destId="{B1F21F1C-2CC7-4A6E-A933-7E90A7B35B6A}" srcOrd="1" destOrd="0" presId="urn:microsoft.com/office/officeart/2008/layout/LinedList"/>
    <dgm:cxn modelId="{7EF64FAE-FCF7-40CC-8487-3D3C1D4445CA}" type="presParOf" srcId="{B1F21F1C-2CC7-4A6E-A933-7E90A7B35B6A}" destId="{B492BCCB-C5EA-41F8-9234-52BF8436D8D2}" srcOrd="0" destOrd="0" presId="urn:microsoft.com/office/officeart/2008/layout/LinedList"/>
    <dgm:cxn modelId="{5C94C31D-4204-47BE-A274-D11CB19E1909}" type="presParOf" srcId="{B1F21F1C-2CC7-4A6E-A933-7E90A7B35B6A}" destId="{95128C57-FACD-47FE-AE8E-0365E3D8F1E1}" srcOrd="1" destOrd="0" presId="urn:microsoft.com/office/officeart/2008/layout/LinedList"/>
    <dgm:cxn modelId="{A6809F9E-BC7C-455E-9ECF-A8BC08C690D0}" type="presParOf" srcId="{77006753-8ED6-4556-9179-9D03D40A8326}" destId="{895CC745-5F6C-46E2-8800-D531B14E884B}" srcOrd="2" destOrd="0" presId="urn:microsoft.com/office/officeart/2008/layout/LinedList"/>
    <dgm:cxn modelId="{9143581E-ADFF-4D65-9657-809BB65A01AA}" type="presParOf" srcId="{77006753-8ED6-4556-9179-9D03D40A8326}" destId="{BFD114FE-09C5-4D01-AE64-ED22B12E0AC5}" srcOrd="3" destOrd="0" presId="urn:microsoft.com/office/officeart/2008/layout/LinedList"/>
    <dgm:cxn modelId="{67367FA9-2DA5-42F9-AB97-03114BACA47E}" type="presParOf" srcId="{BFD114FE-09C5-4D01-AE64-ED22B12E0AC5}" destId="{31218227-B688-44E9-94C1-9D4A838978DA}" srcOrd="0" destOrd="0" presId="urn:microsoft.com/office/officeart/2008/layout/LinedList"/>
    <dgm:cxn modelId="{9F613A87-1A1F-4E60-BD14-058588BA92BE}" type="presParOf" srcId="{BFD114FE-09C5-4D01-AE64-ED22B12E0AC5}" destId="{3CDAD24D-4A74-4CBC-BB12-9FF1D285B161}" srcOrd="1" destOrd="0" presId="urn:microsoft.com/office/officeart/2008/layout/LinedList"/>
    <dgm:cxn modelId="{DA67D46B-5E2A-446A-AC56-457CE15D147A}" type="presParOf" srcId="{77006753-8ED6-4556-9179-9D03D40A8326}" destId="{7CDB39FE-95FF-45CE-9ABE-80E5365DE1B7}" srcOrd="4" destOrd="0" presId="urn:microsoft.com/office/officeart/2008/layout/LinedList"/>
    <dgm:cxn modelId="{3BD86302-4735-467D-8C29-87440C97CC37}" type="presParOf" srcId="{77006753-8ED6-4556-9179-9D03D40A8326}" destId="{498402F4-A832-45D2-B363-272EF4FB3FF1}" srcOrd="5" destOrd="0" presId="urn:microsoft.com/office/officeart/2008/layout/LinedList"/>
    <dgm:cxn modelId="{94B91A4C-A4A0-4E59-8761-85A1411B815F}" type="presParOf" srcId="{498402F4-A832-45D2-B363-272EF4FB3FF1}" destId="{A357D9F0-18A0-4FA4-A4A1-A5996E24F799}" srcOrd="0" destOrd="0" presId="urn:microsoft.com/office/officeart/2008/layout/LinedList"/>
    <dgm:cxn modelId="{548FC461-FE90-4443-A5AB-D98D2325CFE3}" type="presParOf" srcId="{498402F4-A832-45D2-B363-272EF4FB3FF1}" destId="{AD459BFF-C4A9-471B-BB33-10E01127DCFB}" srcOrd="1" destOrd="0" presId="urn:microsoft.com/office/officeart/2008/layout/LinedList"/>
    <dgm:cxn modelId="{AEEEE274-BB46-4F8D-A281-BB9CBB92647A}" type="presParOf" srcId="{77006753-8ED6-4556-9179-9D03D40A8326}" destId="{49730C72-68AE-46B3-90F0-06E3660A4C2C}" srcOrd="6" destOrd="0" presId="urn:microsoft.com/office/officeart/2008/layout/LinedList"/>
    <dgm:cxn modelId="{F827E3E9-8DC4-47B8-ABF0-A635C08DC19F}" type="presParOf" srcId="{77006753-8ED6-4556-9179-9D03D40A8326}" destId="{5FAF323D-B8C6-413C-9701-43A39EE31F0D}" srcOrd="7" destOrd="0" presId="urn:microsoft.com/office/officeart/2008/layout/LinedList"/>
    <dgm:cxn modelId="{AB568ED3-6E55-43A7-BE7B-AB34D0DF68D9}" type="presParOf" srcId="{5FAF323D-B8C6-413C-9701-43A39EE31F0D}" destId="{5A70D4DC-06D8-4B17-B1EA-AB3A3C2F85A7}" srcOrd="0" destOrd="0" presId="urn:microsoft.com/office/officeart/2008/layout/LinedList"/>
    <dgm:cxn modelId="{3BB9DAAD-990E-4E18-9060-6D3B3541DF55}" type="presParOf" srcId="{5FAF323D-B8C6-413C-9701-43A39EE31F0D}" destId="{0A36A03C-F08F-4756-9D8D-34E2FC2A53D6}" srcOrd="1" destOrd="0" presId="urn:microsoft.com/office/officeart/2008/layout/LinedList"/>
    <dgm:cxn modelId="{146CD653-81F3-465B-BF3E-1959A61F669E}" type="presParOf" srcId="{77006753-8ED6-4556-9179-9D03D40A8326}" destId="{6302A7E5-8C68-42D0-AD66-0C8FAB0C0841}" srcOrd="8" destOrd="0" presId="urn:microsoft.com/office/officeart/2008/layout/LinedList"/>
    <dgm:cxn modelId="{F3F74D5F-26CB-40E5-9696-7E5C89E7EE55}" type="presParOf" srcId="{77006753-8ED6-4556-9179-9D03D40A8326}" destId="{0B9679AC-3A8A-4CA5-9690-D9E24EAE20F5}" srcOrd="9" destOrd="0" presId="urn:microsoft.com/office/officeart/2008/layout/LinedList"/>
    <dgm:cxn modelId="{D979549A-669A-4961-9373-EDF9CB1EA0C7}" type="presParOf" srcId="{0B9679AC-3A8A-4CA5-9690-D9E24EAE20F5}" destId="{7E5EF259-6551-44C3-A90C-8B22D5DB7017}" srcOrd="0" destOrd="0" presId="urn:microsoft.com/office/officeart/2008/layout/LinedList"/>
    <dgm:cxn modelId="{014E75B6-E42E-4B56-8C84-DA0DE49A4293}" type="presParOf" srcId="{0B9679AC-3A8A-4CA5-9690-D9E24EAE20F5}" destId="{E00EA8E6-383B-4B11-964F-C82280612AE0}" srcOrd="1" destOrd="0" presId="urn:microsoft.com/office/officeart/2008/layout/LinedList"/>
    <dgm:cxn modelId="{6C9059E6-F648-4F0B-A8B7-6CF5C8FC7B67}" type="presParOf" srcId="{77006753-8ED6-4556-9179-9D03D40A8326}" destId="{6A15175A-5E0D-4939-91C4-62F9B830A57E}" srcOrd="10" destOrd="0" presId="urn:microsoft.com/office/officeart/2008/layout/LinedList"/>
    <dgm:cxn modelId="{53F051DF-40AE-4A5C-8BE2-9C7F0CE0B16D}" type="presParOf" srcId="{77006753-8ED6-4556-9179-9D03D40A8326}" destId="{103793BB-7DD4-46D9-9BC4-BADAC602E128}" srcOrd="11" destOrd="0" presId="urn:microsoft.com/office/officeart/2008/layout/LinedList"/>
    <dgm:cxn modelId="{6BBBAAFD-02CE-4C9F-B405-BB33EBB439E0}" type="presParOf" srcId="{103793BB-7DD4-46D9-9BC4-BADAC602E128}" destId="{10BD96F2-E726-4799-B2B1-8C883D46E25E}" srcOrd="0" destOrd="0" presId="urn:microsoft.com/office/officeart/2008/layout/LinedList"/>
    <dgm:cxn modelId="{659AFD7D-394D-4980-B992-D8389AD2E833}" type="presParOf" srcId="{103793BB-7DD4-46D9-9BC4-BADAC602E128}" destId="{83A63DA4-2477-49C4-AC8D-F2BFBF60A83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5FBDC-ECA1-42B5-86A4-2FC30BFE51FA}">
      <dsp:nvSpPr>
        <dsp:cNvPr id="0" name=""/>
        <dsp:cNvSpPr/>
      </dsp:nvSpPr>
      <dsp:spPr>
        <a:xfrm>
          <a:off x="0" y="2825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92BCCB-C5EA-41F8-9234-52BF8436D8D2}">
      <dsp:nvSpPr>
        <dsp:cNvPr id="0" name=""/>
        <dsp:cNvSpPr/>
      </dsp:nvSpPr>
      <dsp:spPr>
        <a:xfrm>
          <a:off x="0" y="2825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Introduction and Background Research</a:t>
          </a:r>
        </a:p>
      </dsp:txBody>
      <dsp:txXfrm>
        <a:off x="0" y="2825"/>
        <a:ext cx="6949440" cy="963497"/>
      </dsp:txXfrm>
    </dsp:sp>
    <dsp:sp modelId="{895CC745-5F6C-46E2-8800-D531B14E884B}">
      <dsp:nvSpPr>
        <dsp:cNvPr id="0" name=""/>
        <dsp:cNvSpPr/>
      </dsp:nvSpPr>
      <dsp:spPr>
        <a:xfrm>
          <a:off x="0" y="966323"/>
          <a:ext cx="6949440" cy="0"/>
        </a:xfrm>
        <a:prstGeom prst="line">
          <a:avLst/>
        </a:prstGeom>
        <a:solidFill>
          <a:schemeClr val="accent2">
            <a:hueOff val="-208266"/>
            <a:satOff val="-4326"/>
            <a:lumOff val="-1176"/>
            <a:alphaOff val="0"/>
          </a:schemeClr>
        </a:solidFill>
        <a:ln w="12700" cap="flat" cmpd="sng" algn="ctr">
          <a:solidFill>
            <a:schemeClr val="accent2">
              <a:hueOff val="-208266"/>
              <a:satOff val="-4326"/>
              <a:lumOff val="-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18227-B688-44E9-94C1-9D4A838978DA}">
      <dsp:nvSpPr>
        <dsp:cNvPr id="0" name=""/>
        <dsp:cNvSpPr/>
      </dsp:nvSpPr>
      <dsp:spPr>
        <a:xfrm>
          <a:off x="0" y="966323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 Information and Exploration</a:t>
          </a:r>
        </a:p>
      </dsp:txBody>
      <dsp:txXfrm>
        <a:off x="0" y="966323"/>
        <a:ext cx="6949440" cy="963497"/>
      </dsp:txXfrm>
    </dsp:sp>
    <dsp:sp modelId="{7CDB39FE-95FF-45CE-9ABE-80E5365DE1B7}">
      <dsp:nvSpPr>
        <dsp:cNvPr id="0" name=""/>
        <dsp:cNvSpPr/>
      </dsp:nvSpPr>
      <dsp:spPr>
        <a:xfrm>
          <a:off x="0" y="1929821"/>
          <a:ext cx="6949440" cy="0"/>
        </a:xfrm>
        <a:prstGeom prst="line">
          <a:avLst/>
        </a:prstGeom>
        <a:solidFill>
          <a:schemeClr val="accent2">
            <a:hueOff val="-416532"/>
            <a:satOff val="-8652"/>
            <a:lumOff val="-2353"/>
            <a:alphaOff val="0"/>
          </a:schemeClr>
        </a:solidFill>
        <a:ln w="12700" cap="flat" cmpd="sng" algn="ctr">
          <a:solidFill>
            <a:schemeClr val="accent2">
              <a:hueOff val="-416532"/>
              <a:satOff val="-8652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7D9F0-18A0-4FA4-A4A1-A5996E24F799}">
      <dsp:nvSpPr>
        <dsp:cNvPr id="0" name=""/>
        <dsp:cNvSpPr/>
      </dsp:nvSpPr>
      <dsp:spPr>
        <a:xfrm>
          <a:off x="0" y="1929821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Model Methodologies</a:t>
          </a:r>
        </a:p>
      </dsp:txBody>
      <dsp:txXfrm>
        <a:off x="0" y="1929821"/>
        <a:ext cx="6949440" cy="963497"/>
      </dsp:txXfrm>
    </dsp:sp>
    <dsp:sp modelId="{49730C72-68AE-46B3-90F0-06E3660A4C2C}">
      <dsp:nvSpPr>
        <dsp:cNvPr id="0" name=""/>
        <dsp:cNvSpPr/>
      </dsp:nvSpPr>
      <dsp:spPr>
        <a:xfrm>
          <a:off x="0" y="2893319"/>
          <a:ext cx="6949440" cy="0"/>
        </a:xfrm>
        <a:prstGeom prst="line">
          <a:avLst/>
        </a:prstGeom>
        <a:solidFill>
          <a:schemeClr val="accent2">
            <a:hueOff val="-624797"/>
            <a:satOff val="-12979"/>
            <a:lumOff val="-3529"/>
            <a:alphaOff val="0"/>
          </a:schemeClr>
        </a:solidFill>
        <a:ln w="12700" cap="flat" cmpd="sng" algn="ctr">
          <a:solidFill>
            <a:schemeClr val="accent2">
              <a:hueOff val="-624797"/>
              <a:satOff val="-12979"/>
              <a:lumOff val="-35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70D4DC-06D8-4B17-B1EA-AB3A3C2F85A7}">
      <dsp:nvSpPr>
        <dsp:cNvPr id="0" name=""/>
        <dsp:cNvSpPr/>
      </dsp:nvSpPr>
      <dsp:spPr>
        <a:xfrm>
          <a:off x="0" y="2893318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Results and Statistical Analysis</a:t>
          </a:r>
        </a:p>
      </dsp:txBody>
      <dsp:txXfrm>
        <a:off x="0" y="2893318"/>
        <a:ext cx="6949440" cy="963497"/>
      </dsp:txXfrm>
    </dsp:sp>
    <dsp:sp modelId="{6302A7E5-8C68-42D0-AD66-0C8FAB0C0841}">
      <dsp:nvSpPr>
        <dsp:cNvPr id="0" name=""/>
        <dsp:cNvSpPr/>
      </dsp:nvSpPr>
      <dsp:spPr>
        <a:xfrm>
          <a:off x="0" y="3856816"/>
          <a:ext cx="6949440" cy="0"/>
        </a:xfrm>
        <a:prstGeom prst="line">
          <a:avLst/>
        </a:prstGeom>
        <a:solidFill>
          <a:schemeClr val="accent2">
            <a:hueOff val="-833063"/>
            <a:satOff val="-17305"/>
            <a:lumOff val="-4706"/>
            <a:alphaOff val="0"/>
          </a:schemeClr>
        </a:solidFill>
        <a:ln w="12700" cap="flat" cmpd="sng" algn="ctr">
          <a:solidFill>
            <a:schemeClr val="accent2">
              <a:hueOff val="-833063"/>
              <a:satOff val="-17305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5EF259-6551-44C3-A90C-8B22D5DB7017}">
      <dsp:nvSpPr>
        <dsp:cNvPr id="0" name=""/>
        <dsp:cNvSpPr/>
      </dsp:nvSpPr>
      <dsp:spPr>
        <a:xfrm>
          <a:off x="0" y="3856816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Overall Project Takeaways</a:t>
          </a:r>
        </a:p>
      </dsp:txBody>
      <dsp:txXfrm>
        <a:off x="0" y="3856816"/>
        <a:ext cx="6949440" cy="963497"/>
      </dsp:txXfrm>
    </dsp:sp>
    <dsp:sp modelId="{6A15175A-5E0D-4939-91C4-62F9B830A57E}">
      <dsp:nvSpPr>
        <dsp:cNvPr id="0" name=""/>
        <dsp:cNvSpPr/>
      </dsp:nvSpPr>
      <dsp:spPr>
        <a:xfrm>
          <a:off x="0" y="4820314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BD96F2-E726-4799-B2B1-8C883D46E25E}">
      <dsp:nvSpPr>
        <dsp:cNvPr id="0" name=""/>
        <dsp:cNvSpPr/>
      </dsp:nvSpPr>
      <dsp:spPr>
        <a:xfrm>
          <a:off x="0" y="4820314"/>
          <a:ext cx="6949440" cy="9634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Library Citations and Reproducibility Details</a:t>
          </a:r>
        </a:p>
      </dsp:txBody>
      <dsp:txXfrm>
        <a:off x="0" y="4820314"/>
        <a:ext cx="6949440" cy="9634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19:32:45.7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92 24575,'4'0'0,"1"-9"0,0-6 0,0-7 0,-2-2 0,-1 2-8191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20:03:55.065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1400 8192,'0'-3'940,"0"-1"1,0 1-1,1 0 1,0 0-1,-1 0 1,1 0-1,0 0 1,3-4 0,15-24 2062,15-15-3292,2 1 1,54-51-1,99-77-1321,-65 69 326,5 4-1,3 7 0,5 5 1,3 7-1,3 6 0,272-101 1,241-11 3286,-460 136-208,-144 37 2762,-16 6-3556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20:03:56.85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1 385 8192,'68'-2'8465,"-53"0"-7464,0 0 0,21-6 0,346-115-1001,-350 114 0,13-4 0,-1-2 0,43-21 0,-80 33 0,-1-1 0,0 0 0,0 0 0,-1 0 0,1-1 0,-1 0 0,0 0 0,0-1 0,-1 1 0,0-1 0,7-12 0,-2 0 0,-1 0 0,10-34 0,-15 41 0,0 4 0,-1 7 0,0 15 0,-5 21-915,-1 0 1,-17 69-1,10-58-286,-178 782-6322,186-818 7739,1-12 187,2-15-527,1-3-371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20:03:58.59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1126 8192,'4'-3'1211,"-1"0"-1,1 0 1,0 1 0,-1 0 0,1-1 0,5-1-1,-4 2-711,-1 0 0,1 0 0,-1-1 0,0 0-1,7-5 1,752-655-9760,-334 298 7054,-370 308 2207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4T20:04:00.43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1 137 8192,'-1'5'730,"1"0"0,1 0 1,-1 0-1,1 0 1,0 0-1,0 0 0,0-1 1,3 7-1,-3-9-442,1 1 0,-1-1 0,1 0 0,0 1 0,0-1 0,0 0 0,0 0 0,0 0 0,0-1 0,0 1-1,1 0 1,-1-1 0,1 1 0,-1-1 0,1 0 0,2 1 0,7 2-288,0-1 0,-1-1 0,1 0 0,0 0 0,0-1 0,0-1 0,0 0 0,0-1 0,22-3 0,3-3 0,66-23 0,-62 16 0,-1-2 0,52-28 0,-73 33 0,-1-1 0,0 0 0,-1-1 0,-1-1 0,0 0 0,23-27 0,-50 70 0,-112 352-5999,86-260 4073,-12 48-140,-25 74 589,59-202 1477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5:30:59.222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3753 8192,'0'-1'210,"0"0"0,1 0 0,-1 0 1,0 0-1,0 0 0,1 0 0,-1 0 0,1 0 0,-1 0 1,1 0-1,0 0 0,-1 0 0,1 1 0,0-1 1,-1 0-1,1 0 0,0 1 0,0-1 0,0 0 1,1 0-1,22-12 6105,-17 10-5576,142-61-739,-88 40 0,-49 18 0,0 0 0,0 0 0,-1-2 0,0 1 0,12-11 0,47-50 0,1 0 0,-37 36 0,38-45 0,-41 43 0,49-44 0,-45 46 0,38-44 0,-41 41 0,45-39 0,18-19 0,-5 4 0,-74 74 0,0 0 0,-1-2 0,-1 0 0,0 0 0,14-26 0,-14 23 0,1 1 0,1 1 0,0 0 0,21-16 0,-19 17 0,0 1 0,-2-2 0,0 0 0,14-22 0,12-34 0,-4-1 0,-3-2 0,42-133 0,-75 204 0,9-26 0,-1-1 0,-2-1 0,-1 0 0,4-44 0,-11-115-4942,-2 95 3861,2 78 1610,-2-1 0,-1 1 1,0 0-1,-11-35 0,-36-75 2378,26 70-2437,17 44-470,-1 0 0,-13-18 0,14 23 0,0 0 0,1-1 0,0 0 0,0 0 0,-4-17 0,7 15-55,0 1 0,-1-1 0,0 1 0,-1 1 0,-1-1 0,0 1 0,0-1 0,-10-11 0,-32-37 484,-2-1-2646,5-5-4205,-58-85 4103,-13-23 1875,106 156 526,-1 2 1,-1-1-1,-1 1 1,-1 1-1,-29-28 1,-34-31 578,-5-5 284,68 68-523,0 1 1,-1 0-1,-1 1 0,-20-10 1,0 4 3132,-34-18 145,51 22-3700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5:31:01.401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145 1152 8192,'-2'-89'8465,"-1"61"-6964,-6-32 1,-48-200-1502,42 197 0,9 39 0,0-2 0,-3-44 0,8-41 0,2 71 0,-1 0 0,-2 0 0,-11-54 0,8 71 0,-10-54 0,14 69 0,0 1 0,1 0 0,0 0 0,0 0 0,1-1 0,0 1 0,0 0 0,3-9 0,-3 14-33,0 0 0,0 0 0,0 0 0,1 0-1,-1 0 1,0 0 0,1 1 0,0-1 0,-1 0 0,1 1-1,0-1 1,0 1 0,0 0 0,0 0 0,0 0 0,0 0-1,0 0 1,0 0 0,0 0 0,1 1 0,-1-1 0,0 1-1,1-1 1,-1 1 0,0 0 0,0 0 0,4 0 0,7 1-228,0 0 1,1 1-1,18 5 1,-27-6 250,67 18-1559,-42-10-340,1-1-1,62 7 1,-20-12 953,-38-3 544,-1 2 1,42 8-1,-2 0 2853,0-2 1,141-5-1,-143-4-881,-23 6-2411,23 12-6653,-71-17 7390,24 7-301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07T05:31:06.926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0 3180 8192,'6'-1'1192,"0"0"0,0 0 1,-1-1-1,1 1 0,-1-2 1,1 1-1,-1 0 0,7-5 1,4-1-456,10-5-737,0-1 0,-1-1 0,27-22 0,64-62 0,-105 89 0,19-15-269,48-29-1,10-8-664,-75 52 733,-2-1 1,1 0-1,-1 0 1,16-24-1,59-75-4674,-1 3 758,-62 69 4117,21-46 0,-12 22 0,37-48 0,6-9 0,-68 105 0,0-1 0,-1 0 0,0-1 0,-2 1 0,0-1 0,4-27 0,-4-33 614,-6-88 0,-2 41 1608,1 13 5591,1 92-8331,-1 1-1,0 0 1,-2 0 0,-7-22 0,-7-4 1481,-40-64 0,22 40-93,31 55-1315,0 0 0,1 0 0,1 0 0,0-1-1,-2-18 1,-4-63-4167,8 62 3543,-22-123-1977,19 130 2976,-16-49 70,8 30 0,4 17 0,-2 1 0,0 0 0,-2 1 0,-27-40 0,-6-11 0,10 10 0,-3 0 0,-79-99 0,83 113 0,27 39 0,-1 0 0,-15-18 0,9 16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58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132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87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10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41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04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48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71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70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47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549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05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1.png"/><Relationship Id="rId5" Type="http://schemas.openxmlformats.org/officeDocument/2006/relationships/image" Target="../media/image8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customXml" Target="../ink/ink7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6.xml"/><Relationship Id="rId10" Type="http://schemas.openxmlformats.org/officeDocument/2006/relationships/image" Target="../media/image18.png"/><Relationship Id="rId4" Type="http://schemas.openxmlformats.org/officeDocument/2006/relationships/image" Target="../media/image15.png"/><Relationship Id="rId9" Type="http://schemas.openxmlformats.org/officeDocument/2006/relationships/customXml" Target="../ink/ink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reference/api/pandas.DataFrame.shift.html" TargetMode="External"/><Relationship Id="rId2" Type="http://schemas.openxmlformats.org/officeDocument/2006/relationships/hyperlink" Target="https://scikit-learn.org/stable/modules/generated/sklearn.dummy.DummyClassifie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machine-learning/xgbclassifier/" TargetMode="External"/><Relationship Id="rId5" Type="http://schemas.openxmlformats.org/officeDocument/2006/relationships/hyperlink" Target="https://xgboost.readthedocs.io/en/stable/parameter.html" TargetMode="External"/><Relationship Id="rId4" Type="http://schemas.openxmlformats.org/officeDocument/2006/relationships/hyperlink" Target="https://scikit-learn.org/stable/modules/generated/sklearn.linear_model.LogisticRegression.html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654F43-3D36-FCB9-5D5C-8ED7B4F37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n-US" sz="5400"/>
              <a:t>NBA Breakout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8524A-AE02-A358-3DB7-F31D8C6817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By: Conor Eunson</a:t>
            </a:r>
          </a:p>
        </p:txBody>
      </p:sp>
      <p:pic>
        <p:nvPicPr>
          <p:cNvPr id="4" name="Picture 3" descr="Aerial view of a basketball court">
            <a:extLst>
              <a:ext uri="{FF2B5EF4-FFF2-40B4-BE49-F238E27FC236}">
                <a16:creationId xmlns:a16="http://schemas.microsoft.com/office/drawing/2014/main" id="{9A99F597-37E3-2FD9-A959-EB0C5CA1D7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16" r="16061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35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013308-A7BA-E24F-E2CC-2F779462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6000"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CDF2FF-C2E8-BD23-84CC-E69CDBC0D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353138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4212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F45FE-31E6-8151-018A-6D1B9040D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2CEC-F87D-1774-4460-0C8E71CB80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2076" y="1263878"/>
            <a:ext cx="8387848" cy="2621154"/>
          </a:xfrm>
        </p:spPr>
        <p:txBody>
          <a:bodyPr/>
          <a:lstStyle/>
          <a:p>
            <a:r>
              <a:rPr lang="en-US" dirty="0"/>
              <a:t>Problem Statement/Hypothesis</a:t>
            </a:r>
          </a:p>
        </p:txBody>
      </p:sp>
    </p:spTree>
    <p:extLst>
      <p:ext uri="{BB962C8B-B14F-4D97-AF65-F5344CB8AC3E}">
        <p14:creationId xmlns:p14="http://schemas.microsoft.com/office/powerpoint/2010/main" val="1118673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331B8-6C91-D6F9-3792-9ED36DF9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F025BC-5AC5-E19B-075B-A581A4DFB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39076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dirty="0"/>
              <a:t>Problem Information/Importance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39B4B-31AC-B457-0900-59FB11CB7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749" y="2158419"/>
            <a:ext cx="6452182" cy="4096512"/>
          </a:xfrm>
        </p:spPr>
        <p:txBody>
          <a:bodyPr>
            <a:normAutofit/>
          </a:bodyPr>
          <a:lstStyle/>
          <a:p>
            <a:r>
              <a:rPr lang="en-US" dirty="0"/>
              <a:t>NBA player’s ability to breakout into great players is almost impossible to consistently predict</a:t>
            </a:r>
          </a:p>
          <a:p>
            <a:r>
              <a:rPr lang="en-US" dirty="0"/>
              <a:t>Giving up on a player to soon can have decade long impacts on the NBA</a:t>
            </a:r>
          </a:p>
          <a:p>
            <a:r>
              <a:rPr lang="en-US" dirty="0"/>
              <a:t>Beneficial to NBA Brand</a:t>
            </a:r>
          </a:p>
          <a:p>
            <a:pPr lvl="1"/>
            <a:r>
              <a:rPr lang="en-US" sz="2000" dirty="0"/>
              <a:t>30 teams across the league</a:t>
            </a:r>
          </a:p>
          <a:p>
            <a:pPr lvl="1"/>
            <a:r>
              <a:rPr lang="en-US" sz="2000" dirty="0"/>
              <a:t>Sports betting</a:t>
            </a:r>
          </a:p>
          <a:p>
            <a:pPr lvl="1"/>
            <a:r>
              <a:rPr lang="en-US" sz="2000" dirty="0"/>
              <a:t>TV Analysts, ESPN</a:t>
            </a:r>
          </a:p>
          <a:p>
            <a:pPr lvl="1"/>
            <a:r>
              <a:rPr lang="en-US" sz="2000" dirty="0"/>
              <a:t>Fans watching</a:t>
            </a:r>
          </a:p>
        </p:txBody>
      </p:sp>
      <p:pic>
        <p:nvPicPr>
          <p:cNvPr id="4" name="Picture 3" descr="Do All Nba Logos Have A Basketball">
            <a:extLst>
              <a:ext uri="{FF2B5EF4-FFF2-40B4-BE49-F238E27FC236}">
                <a16:creationId xmlns:a16="http://schemas.microsoft.com/office/drawing/2014/main" id="{5A7F27F2-3411-DCA6-74D6-680AEA230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958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759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B44C5-82D4-2A2B-1132-AB08B2548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4D33C-5250-69FC-7CA4-FC2B5BD3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024128"/>
          </a:xfrm>
        </p:spPr>
        <p:txBody>
          <a:bodyPr/>
          <a:lstStyle/>
          <a:p>
            <a:pPr algn="ctr"/>
            <a:r>
              <a:rPr lang="en-US" dirty="0"/>
              <a:t>Research Question(s) and 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EDB68-EEA4-5E30-C1FD-C396DF3FE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How do I want quantify or classify a “Breakout” player?</a:t>
            </a:r>
          </a:p>
          <a:p>
            <a:r>
              <a:rPr lang="en-US" sz="2400" dirty="0"/>
              <a:t>Using NBA player statistics are we able to find accurately predict whether they will breakout the following season?</a:t>
            </a:r>
          </a:p>
          <a:p>
            <a:r>
              <a:rPr lang="en-US" sz="2400" dirty="0"/>
              <a:t>Hypothesis is that NBA players that see an increase of 20% or more to their Points Per Game (PTS) and an increase of 2 plus to Win Shares (WS) from season to season will breakout.</a:t>
            </a:r>
          </a:p>
        </p:txBody>
      </p:sp>
    </p:spTree>
    <p:extLst>
      <p:ext uri="{BB962C8B-B14F-4D97-AF65-F5344CB8AC3E}">
        <p14:creationId xmlns:p14="http://schemas.microsoft.com/office/powerpoint/2010/main" val="3695141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638C8-D4C7-D4AD-C112-43A4E6EE86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Engineering</a:t>
            </a:r>
          </a:p>
        </p:txBody>
      </p:sp>
    </p:spTree>
    <p:extLst>
      <p:ext uri="{BB962C8B-B14F-4D97-AF65-F5344CB8AC3E}">
        <p14:creationId xmlns:p14="http://schemas.microsoft.com/office/powerpoint/2010/main" val="2490747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0B1A2-E047-C92D-71AE-7DCDC957A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629"/>
            <a:ext cx="7287768" cy="941832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Dataset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45004-E1F9-4FA0-B124-E9CB6B9A7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761" y="1649548"/>
            <a:ext cx="8651096" cy="4593828"/>
          </a:xfrm>
        </p:spPr>
        <p:txBody>
          <a:bodyPr>
            <a:normAutofit/>
          </a:bodyPr>
          <a:lstStyle/>
          <a:p>
            <a:r>
              <a:rPr lang="en-US" sz="2800" dirty="0"/>
              <a:t>Basketball reference publicly available NBA data</a:t>
            </a:r>
          </a:p>
          <a:p>
            <a:r>
              <a:rPr lang="en-US" sz="2800" dirty="0"/>
              <a:t>Downloaded player statistics from 11 NBA seasons</a:t>
            </a:r>
          </a:p>
          <a:p>
            <a:r>
              <a:rPr lang="en-US" sz="2800" dirty="0"/>
              <a:t>Downloaded each season’s excel file and merged them together</a:t>
            </a:r>
          </a:p>
          <a:p>
            <a:r>
              <a:rPr lang="en-US" sz="2800" dirty="0"/>
              <a:t>5,968 observations/records, 53 features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9756E4-8B43-D43D-E276-3D7129D6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729" y="167219"/>
            <a:ext cx="2588623" cy="590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89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E9CDE-EF5B-B307-8BD8-88E25647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64C60-D6FB-E9DD-A6A3-9BCE3578B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Exploratory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80FCA-3445-E912-A1E5-8034EB6BE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39" y="1450356"/>
            <a:ext cx="11329417" cy="4593828"/>
          </a:xfrm>
        </p:spPr>
        <p:txBody>
          <a:bodyPr>
            <a:normAutofit/>
          </a:bodyPr>
          <a:lstStyle/>
          <a:p>
            <a:r>
              <a:rPr lang="en-US" sz="3200" dirty="0"/>
              <a:t>Majority numerical features dataset</a:t>
            </a:r>
          </a:p>
          <a:p>
            <a:r>
              <a:rPr lang="en-US" sz="3200" dirty="0"/>
              <a:t>2 trends from observing features histogram distributions</a:t>
            </a:r>
          </a:p>
          <a:p>
            <a:pPr lvl="1"/>
            <a:r>
              <a:rPr lang="en-US" sz="3200" dirty="0"/>
              <a:t>Left leaning with sharp decreases</a:t>
            </a:r>
          </a:p>
          <a:p>
            <a:pPr lvl="1"/>
            <a:r>
              <a:rPr lang="en-US" sz="3200" dirty="0"/>
              <a:t>Normal distributions</a:t>
            </a:r>
          </a:p>
          <a:p>
            <a:r>
              <a:rPr lang="en-US" sz="3200" dirty="0"/>
              <a:t>Verified understanding of features through scatterplots</a:t>
            </a:r>
          </a:p>
        </p:txBody>
      </p:sp>
    </p:spTree>
    <p:extLst>
      <p:ext uri="{BB962C8B-B14F-4D97-AF65-F5344CB8AC3E}">
        <p14:creationId xmlns:p14="http://schemas.microsoft.com/office/powerpoint/2010/main" val="342640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39B663-8F34-3E38-500F-F8AA348D9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88" y="1562464"/>
            <a:ext cx="5505125" cy="4099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F4548F-C561-D78E-E85D-2DD58ED59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713" y="1673604"/>
            <a:ext cx="5882945" cy="38773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F401B6-E6BC-6E63-57C9-0A1CE7295A1F}"/>
              </a:ext>
            </a:extLst>
          </p:cNvPr>
          <p:cNvSpPr txBox="1"/>
          <p:nvPr/>
        </p:nvSpPr>
        <p:spPr>
          <a:xfrm>
            <a:off x="1262743" y="428541"/>
            <a:ext cx="9666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Feature Histogram Distributions Examples</a:t>
            </a:r>
          </a:p>
        </p:txBody>
      </p:sp>
    </p:spTree>
    <p:extLst>
      <p:ext uri="{BB962C8B-B14F-4D97-AF65-F5344CB8AC3E}">
        <p14:creationId xmlns:p14="http://schemas.microsoft.com/office/powerpoint/2010/main" val="351191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3238-8EF2-2F61-4110-0CFAB5D01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210312"/>
            <a:ext cx="10653578" cy="813816"/>
          </a:xfrm>
        </p:spPr>
        <p:txBody>
          <a:bodyPr/>
          <a:lstStyle/>
          <a:p>
            <a:pPr algn="ctr"/>
            <a:r>
              <a:rPr lang="en-US" dirty="0"/>
              <a:t>Feature Scatterplot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350C13-5B0D-4103-BD21-D6750AE735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3983" y="914532"/>
            <a:ext cx="6484034" cy="527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26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E7224-DCE7-536F-FFB5-5B69477FC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8F8F-1074-B4BC-312F-CC83B7BBD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67512"/>
            <a:ext cx="10653578" cy="758952"/>
          </a:xfrm>
        </p:spPr>
        <p:txBody>
          <a:bodyPr/>
          <a:lstStyle/>
          <a:p>
            <a:pPr algn="ctr"/>
            <a:r>
              <a:rPr lang="en-US" dirty="0"/>
              <a:t>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9CBEA-0CF6-D381-7936-0B8F1E615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Filled missing values for most columns with 0</a:t>
            </a:r>
          </a:p>
          <a:p>
            <a:r>
              <a:rPr lang="en-US" sz="3200" dirty="0"/>
              <a:t>Dropped Awards column for above 90% null values</a:t>
            </a:r>
          </a:p>
          <a:p>
            <a:r>
              <a:rPr lang="en-US" sz="3200" dirty="0"/>
              <a:t>Train (2015 – 2023), Seasonal Validation, Test (2024)</a:t>
            </a:r>
          </a:p>
          <a:p>
            <a:r>
              <a:rPr lang="en-US" sz="3200" dirty="0"/>
              <a:t>Class weight and Scale to handle imbalance (93/7)</a:t>
            </a:r>
          </a:p>
        </p:txBody>
      </p:sp>
    </p:spTree>
    <p:extLst>
      <p:ext uri="{BB962C8B-B14F-4D97-AF65-F5344CB8AC3E}">
        <p14:creationId xmlns:p14="http://schemas.microsoft.com/office/powerpoint/2010/main" val="976339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4F76-6A83-C9AA-878F-781C7312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49224"/>
            <a:ext cx="10653578" cy="978408"/>
          </a:xfrm>
        </p:spPr>
        <p:txBody>
          <a:bodyPr/>
          <a:lstStyle/>
          <a:p>
            <a:pPr algn="ctr"/>
            <a:r>
              <a:rPr lang="en-US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70495-A00B-D574-467A-48E37C8D1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Transformed SEASON column into numeric values</a:t>
            </a:r>
          </a:p>
          <a:p>
            <a:r>
              <a:rPr lang="en-US" sz="2400" dirty="0"/>
              <a:t>Categorical encoding of player Position (Pos)</a:t>
            </a:r>
          </a:p>
          <a:p>
            <a:r>
              <a:rPr lang="en-US" sz="2400" dirty="0"/>
              <a:t>Creation of target variable breakout by creating the following features:</a:t>
            </a:r>
          </a:p>
          <a:p>
            <a:pPr lvl="1"/>
            <a:r>
              <a:rPr lang="en-US" sz="2400" dirty="0"/>
              <a:t>Using shift() to create columns next_PTS and next_WS</a:t>
            </a:r>
          </a:p>
          <a:p>
            <a:pPr lvl="1"/>
            <a:r>
              <a:rPr lang="en-US" sz="2400" dirty="0"/>
              <a:t>Calculated difference between current and future</a:t>
            </a:r>
          </a:p>
          <a:p>
            <a:pPr lvl="1"/>
            <a:r>
              <a:rPr lang="en-US" sz="2400" dirty="0"/>
              <a:t>Created binary target variable using criteria from the hypothesis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6566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9630-5CDB-4D8D-E3F3-DBB503395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994980"/>
          </a:xfrm>
        </p:spPr>
        <p:txBody>
          <a:bodyPr/>
          <a:lstStyle/>
          <a:p>
            <a:pPr algn="ctr"/>
            <a:r>
              <a:rPr lang="en-US" dirty="0"/>
              <a:t>Part 1 Target, .Shift(-1)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AA9092-47F7-FF4D-864B-9359EAC010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5153243"/>
              </p:ext>
            </p:extLst>
          </p:nvPr>
        </p:nvGraphicFramePr>
        <p:xfrm>
          <a:off x="951245" y="1795620"/>
          <a:ext cx="10289510" cy="4513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902">
                  <a:extLst>
                    <a:ext uri="{9D8B030D-6E8A-4147-A177-3AD203B41FA5}">
                      <a16:colId xmlns:a16="http://schemas.microsoft.com/office/drawing/2014/main" val="2545869491"/>
                    </a:ext>
                  </a:extLst>
                </a:gridCol>
                <a:gridCol w="2057902">
                  <a:extLst>
                    <a:ext uri="{9D8B030D-6E8A-4147-A177-3AD203B41FA5}">
                      <a16:colId xmlns:a16="http://schemas.microsoft.com/office/drawing/2014/main" val="1893451552"/>
                    </a:ext>
                  </a:extLst>
                </a:gridCol>
                <a:gridCol w="2057902">
                  <a:extLst>
                    <a:ext uri="{9D8B030D-6E8A-4147-A177-3AD203B41FA5}">
                      <a16:colId xmlns:a16="http://schemas.microsoft.com/office/drawing/2014/main" val="4156155766"/>
                    </a:ext>
                  </a:extLst>
                </a:gridCol>
                <a:gridCol w="2057902">
                  <a:extLst>
                    <a:ext uri="{9D8B030D-6E8A-4147-A177-3AD203B41FA5}">
                      <a16:colId xmlns:a16="http://schemas.microsoft.com/office/drawing/2014/main" val="3691343500"/>
                    </a:ext>
                  </a:extLst>
                </a:gridCol>
                <a:gridCol w="2057902">
                  <a:extLst>
                    <a:ext uri="{9D8B030D-6E8A-4147-A177-3AD203B41FA5}">
                      <a16:colId xmlns:a16="http://schemas.microsoft.com/office/drawing/2014/main" val="1680778579"/>
                    </a:ext>
                  </a:extLst>
                </a:gridCol>
              </a:tblGrid>
              <a:tr h="112843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next_PTS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1313527"/>
                  </a:ext>
                </a:extLst>
              </a:tr>
              <a:tr h="112843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AJ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603924"/>
                  </a:ext>
                </a:extLst>
              </a:tr>
              <a:tr h="112843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AJ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4632314"/>
                  </a:ext>
                </a:extLst>
              </a:tr>
              <a:tr h="112843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AJ Green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10.4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4494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6CBB178-69D7-24AC-2DB9-28BA4890A69C}"/>
                  </a:ext>
                </a:extLst>
              </p14:cNvPr>
              <p14:cNvContentPartPr/>
              <p14:nvPr/>
            </p14:nvContentPartPr>
            <p14:xfrm>
              <a:off x="10451664" y="1100808"/>
              <a:ext cx="9000" cy="33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6CBB178-69D7-24AC-2DB9-28BA4890A6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45544" y="1094688"/>
                <a:ext cx="2124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79841BA7-821B-0281-2B1F-C5921D22988C}"/>
              </a:ext>
            </a:extLst>
          </p:cNvPr>
          <p:cNvGrpSpPr/>
          <p:nvPr/>
        </p:nvGrpSpPr>
        <p:grpSpPr>
          <a:xfrm>
            <a:off x="8604504" y="3692664"/>
            <a:ext cx="1088280" cy="733680"/>
            <a:chOff x="8604504" y="3692664"/>
            <a:chExt cx="1088280" cy="73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CF07C09-E05C-402B-286A-DAC228291931}"/>
                    </a:ext>
                  </a:extLst>
                </p14:cNvPr>
                <p14:cNvContentPartPr/>
                <p14:nvPr/>
              </p14:nvContentPartPr>
              <p14:xfrm>
                <a:off x="8604504" y="3921984"/>
                <a:ext cx="913320" cy="504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CF07C09-E05C-402B-286A-DAC22829193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86864" y="3903984"/>
                  <a:ext cx="94896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72AB175-390F-418C-6EFE-CFA56DAAB2D7}"/>
                    </a:ext>
                  </a:extLst>
                </p14:cNvPr>
                <p14:cNvContentPartPr/>
                <p14:nvPr/>
              </p14:nvContentPartPr>
              <p14:xfrm>
                <a:off x="9390384" y="3692664"/>
                <a:ext cx="302400" cy="388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72AB175-390F-418C-6EFE-CFA56DAAB2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372744" y="3674664"/>
                  <a:ext cx="338040" cy="42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F7AC7A3-4D58-50D2-0FCC-12F40AA86A92}"/>
              </a:ext>
            </a:extLst>
          </p:cNvPr>
          <p:cNvGrpSpPr/>
          <p:nvPr/>
        </p:nvGrpSpPr>
        <p:grpSpPr>
          <a:xfrm>
            <a:off x="8613504" y="4678344"/>
            <a:ext cx="789480" cy="662040"/>
            <a:chOff x="8613504" y="4678344"/>
            <a:chExt cx="78948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E744CDD-D0B7-D8A2-5BC1-1FBFE9972D57}"/>
                    </a:ext>
                  </a:extLst>
                </p14:cNvPr>
                <p14:cNvContentPartPr/>
                <p14:nvPr/>
              </p14:nvContentPartPr>
              <p14:xfrm>
                <a:off x="8613504" y="4935024"/>
                <a:ext cx="473760" cy="405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E744CDD-D0B7-D8A2-5BC1-1FBFE9972D5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95504" y="4917384"/>
                  <a:ext cx="50940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7E187D2-637B-C034-C518-059712A9942C}"/>
                    </a:ext>
                  </a:extLst>
                </p14:cNvPr>
                <p14:cNvContentPartPr/>
                <p14:nvPr/>
              </p14:nvContentPartPr>
              <p14:xfrm>
                <a:off x="9171144" y="4678344"/>
                <a:ext cx="231840" cy="354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7E187D2-637B-C034-C518-059712A9942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53144" y="4660344"/>
                  <a:ext cx="267480" cy="39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53951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9C99D-E78B-B4AC-1E3C-AFC3D413C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Part 2 Target, Difference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DA882-D6F1-4ECF-1DCA-A7AA9EC4D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0613" y="1678459"/>
            <a:ext cx="3915321" cy="91794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Win Shares (WS)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31577-93B2-1197-1976-C2790C881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935" y="2376415"/>
            <a:ext cx="4283288" cy="210516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AD03845-89BE-F3B5-AEC0-9E0283734DFF}"/>
              </a:ext>
            </a:extLst>
          </p:cNvPr>
          <p:cNvSpPr txBox="1">
            <a:spLocks/>
          </p:cNvSpPr>
          <p:nvPr/>
        </p:nvSpPr>
        <p:spPr>
          <a:xfrm>
            <a:off x="1121919" y="4822477"/>
            <a:ext cx="3915321" cy="9179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AJ Green 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(7.4 – 4.5) – 1 = ~0.644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54CD152-2D55-B11B-BD06-58315F409601}"/>
              </a:ext>
            </a:extLst>
          </p:cNvPr>
          <p:cNvSpPr txBox="1">
            <a:spLocks/>
          </p:cNvSpPr>
          <p:nvPr/>
        </p:nvSpPr>
        <p:spPr>
          <a:xfrm>
            <a:off x="1274319" y="1728953"/>
            <a:ext cx="3915321" cy="917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Points Per Game (PTS)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9D2091D-89E4-D09F-93D3-3869D1059CA9}"/>
              </a:ext>
            </a:extLst>
          </p:cNvPr>
          <p:cNvSpPr txBox="1">
            <a:spLocks/>
          </p:cNvSpPr>
          <p:nvPr/>
        </p:nvSpPr>
        <p:spPr>
          <a:xfrm>
            <a:off x="6720614" y="4822477"/>
            <a:ext cx="3915321" cy="9179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AJ Green Example: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2.8 – 1.1 = 1.7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5E1A894-803E-B03E-7E6C-2FB44E2D4557}"/>
              </a:ext>
            </a:extLst>
          </p:cNvPr>
          <p:cNvSpPr txBox="1">
            <a:spLocks/>
          </p:cNvSpPr>
          <p:nvPr/>
        </p:nvSpPr>
        <p:spPr>
          <a:xfrm>
            <a:off x="6343624" y="2810717"/>
            <a:ext cx="3915321" cy="1450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Actual/Numerical Change: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New – Old = Difference</a:t>
            </a:r>
          </a:p>
        </p:txBody>
      </p:sp>
    </p:spTree>
    <p:extLst>
      <p:ext uri="{BB962C8B-B14F-4D97-AF65-F5344CB8AC3E}">
        <p14:creationId xmlns:p14="http://schemas.microsoft.com/office/powerpoint/2010/main" val="4116650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E0C34-CE49-BFCC-EF1D-0D7CD2E9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27720"/>
          </a:xfrm>
        </p:spPr>
        <p:txBody>
          <a:bodyPr/>
          <a:lstStyle/>
          <a:p>
            <a:pPr algn="ctr"/>
            <a:r>
              <a:rPr lang="en-US" dirty="0"/>
              <a:t>Part 3 Target Variable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20292-D6B4-90AC-5E0D-54F939C67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6" y="1396452"/>
            <a:ext cx="10653579" cy="1922502"/>
          </a:xfrm>
        </p:spPr>
        <p:txBody>
          <a:bodyPr>
            <a:noAutofit/>
          </a:bodyPr>
          <a:lstStyle/>
          <a:p>
            <a:r>
              <a:rPr lang="en-US" dirty="0"/>
              <a:t>In order for the player to be labeled a breakout or 1</a:t>
            </a:r>
          </a:p>
          <a:p>
            <a:pPr lvl="1"/>
            <a:r>
              <a:rPr lang="en-US" sz="2000" dirty="0"/>
              <a:t>PTS_difference &gt;= 0.20 </a:t>
            </a:r>
          </a:p>
          <a:p>
            <a:pPr lvl="1"/>
            <a:r>
              <a:rPr lang="en-US" sz="2000" dirty="0"/>
              <a:t>WS_difference &gt;= 2</a:t>
            </a:r>
          </a:p>
          <a:p>
            <a:pPr lvl="1"/>
            <a:r>
              <a:rPr lang="en-US" sz="2000" dirty="0"/>
              <a:t>Otherwise, player is labeled as 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02BF1C-C730-4890-E08D-5CA08FC7674E}"/>
              </a:ext>
            </a:extLst>
          </p:cNvPr>
          <p:cNvSpPr txBox="1">
            <a:spLocks/>
          </p:cNvSpPr>
          <p:nvPr/>
        </p:nvSpPr>
        <p:spPr>
          <a:xfrm>
            <a:off x="6412516" y="3413445"/>
            <a:ext cx="4776690" cy="10507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Breakout Label 1 Example</a:t>
            </a:r>
          </a:p>
          <a:p>
            <a:pPr marL="0" indent="0">
              <a:buNone/>
            </a:pPr>
            <a:r>
              <a:rPr lang="en-US" dirty="0"/>
              <a:t>Lebron James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CA2C26-2A8B-6581-CA90-D07112EB7EAF}"/>
              </a:ext>
            </a:extLst>
          </p:cNvPr>
          <p:cNvSpPr txBox="1">
            <a:spLocks/>
          </p:cNvSpPr>
          <p:nvPr/>
        </p:nvSpPr>
        <p:spPr>
          <a:xfrm>
            <a:off x="925774" y="3429000"/>
            <a:ext cx="4776690" cy="1078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Breakout Label 0 Example</a:t>
            </a:r>
          </a:p>
          <a:p>
            <a:pPr marL="0" indent="0">
              <a:buNone/>
            </a:pPr>
            <a:r>
              <a:rPr lang="en-US" dirty="0"/>
              <a:t>AJ Green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5A7B7CC-9C55-B9EB-A976-3A25A88CA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011444"/>
              </p:ext>
            </p:extLst>
          </p:nvPr>
        </p:nvGraphicFramePr>
        <p:xfrm>
          <a:off x="612646" y="4684295"/>
          <a:ext cx="4864608" cy="184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536">
                  <a:extLst>
                    <a:ext uri="{9D8B030D-6E8A-4147-A177-3AD203B41FA5}">
                      <a16:colId xmlns:a16="http://schemas.microsoft.com/office/drawing/2014/main" val="4281194661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2591172781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4077326504"/>
                    </a:ext>
                  </a:extLst>
                </a:gridCol>
              </a:tblGrid>
              <a:tr h="9225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PTS_diff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WS_diff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Breakout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737259"/>
                  </a:ext>
                </a:extLst>
              </a:tr>
              <a:tr h="9225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5176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2315C0F-7F23-50DE-12C5-740ECE9E7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267779"/>
              </p:ext>
            </p:extLst>
          </p:nvPr>
        </p:nvGraphicFramePr>
        <p:xfrm>
          <a:off x="6324598" y="4684295"/>
          <a:ext cx="4864608" cy="184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536">
                  <a:extLst>
                    <a:ext uri="{9D8B030D-6E8A-4147-A177-3AD203B41FA5}">
                      <a16:colId xmlns:a16="http://schemas.microsoft.com/office/drawing/2014/main" val="4281194661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2591172781"/>
                    </a:ext>
                  </a:extLst>
                </a:gridCol>
                <a:gridCol w="1621536">
                  <a:extLst>
                    <a:ext uri="{9D8B030D-6E8A-4147-A177-3AD203B41FA5}">
                      <a16:colId xmlns:a16="http://schemas.microsoft.com/office/drawing/2014/main" val="4077326504"/>
                    </a:ext>
                  </a:extLst>
                </a:gridCol>
              </a:tblGrid>
              <a:tr h="9225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PTS_diff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err="1"/>
                        <a:t>WS_diff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Breakout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737259"/>
                  </a:ext>
                </a:extLst>
              </a:tr>
              <a:tr h="92255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51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266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4D4EB-8815-5BB0-F214-DE8DFC3B9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45267-323D-3BA0-D304-F3FCF0BCB7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Experiment Setup and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2241279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D8B07-42DC-CD73-DE30-DF8C10A73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0CFA9-AB08-1FA4-21DD-416C9E19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632" y="303457"/>
            <a:ext cx="10653578" cy="693239"/>
          </a:xfrm>
        </p:spPr>
        <p:txBody>
          <a:bodyPr/>
          <a:lstStyle/>
          <a:p>
            <a:pPr algn="ctr"/>
            <a:r>
              <a:rPr lang="en-US" dirty="0"/>
              <a:t>Explanation of Train/Val/Test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A5614-BABC-6852-DDB1-637027F2E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81029" y="1462869"/>
            <a:ext cx="4712208" cy="4593828"/>
          </a:xfrm>
        </p:spPr>
        <p:txBody>
          <a:bodyPr>
            <a:normAutofit/>
          </a:bodyPr>
          <a:lstStyle/>
          <a:p>
            <a:r>
              <a:rPr lang="en-US" sz="2400" dirty="0"/>
              <a:t>Seasonal training and validation</a:t>
            </a:r>
          </a:p>
          <a:p>
            <a:r>
              <a:rPr lang="en-US" sz="2400" dirty="0"/>
              <a:t>Ensure order of seasons that cannot be achieved with </a:t>
            </a:r>
            <a:r>
              <a:rPr lang="en-US" sz="2400" dirty="0" err="1"/>
              <a:t>cross_validate</a:t>
            </a:r>
            <a:endParaRPr lang="en-US" sz="2400" dirty="0"/>
          </a:p>
          <a:p>
            <a:r>
              <a:rPr lang="en-US" sz="2400" dirty="0"/>
              <a:t>Test on the final most recent season that was held 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8865A3-B709-42F0-B119-67854E087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32" y="1318403"/>
            <a:ext cx="1493352" cy="4882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99F5AA1-D941-8CE0-B663-83035A89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604" y="1326849"/>
            <a:ext cx="1731096" cy="4874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21FCE5-1BFA-9784-7810-43A6B1BD4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320" y="1326849"/>
            <a:ext cx="1486089" cy="4661565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3D80356-0DE9-36DA-DC64-BE6E29F80B58}"/>
              </a:ext>
            </a:extLst>
          </p:cNvPr>
          <p:cNvGrpSpPr/>
          <p:nvPr/>
        </p:nvGrpSpPr>
        <p:grpSpPr>
          <a:xfrm>
            <a:off x="1815120" y="4327046"/>
            <a:ext cx="588960" cy="1603440"/>
            <a:chOff x="1815120" y="4327046"/>
            <a:chExt cx="588960" cy="160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4F967F7-11C4-F8E9-F6EA-8D3A45B4D117}"/>
                    </a:ext>
                  </a:extLst>
                </p14:cNvPr>
                <p14:cNvContentPartPr/>
                <p14:nvPr/>
              </p14:nvContentPartPr>
              <p14:xfrm>
                <a:off x="1815120" y="4579406"/>
                <a:ext cx="588960" cy="1351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4F967F7-11C4-F8E9-F6EA-8D3A45B4D11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97480" y="4561766"/>
                  <a:ext cx="624600" cy="13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B671E44-53D3-4E62-0AE0-CB1A86634C00}"/>
                    </a:ext>
                  </a:extLst>
                </p14:cNvPr>
                <p14:cNvContentPartPr/>
                <p14:nvPr/>
              </p14:nvContentPartPr>
              <p14:xfrm>
                <a:off x="1867680" y="4327046"/>
                <a:ext cx="419760" cy="414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B671E44-53D3-4E62-0AE0-CB1A86634C0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850040" y="4309406"/>
                  <a:ext cx="455400" cy="45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937F606-A97D-CEF1-0CA5-4F527091A12B}"/>
                  </a:ext>
                </a:extLst>
              </p14:cNvPr>
              <p14:cNvContentPartPr/>
              <p14:nvPr/>
            </p14:nvContentPartPr>
            <p14:xfrm>
              <a:off x="3840120" y="4667966"/>
              <a:ext cx="381600" cy="11448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937F606-A97D-CEF1-0CA5-4F527091A12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22120" y="4650326"/>
                <a:ext cx="417240" cy="118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8371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BBDC-3386-71CB-9D7E-06D84E33D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Naïve Majority - </a:t>
            </a:r>
            <a:r>
              <a:rPr lang="en-US" dirty="0" err="1"/>
              <a:t>DummyClassifier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79019-0049-F2A9-E186-B527CE7DD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0963657" cy="4593828"/>
          </a:xfrm>
        </p:spPr>
        <p:txBody>
          <a:bodyPr>
            <a:normAutofit/>
          </a:bodyPr>
          <a:lstStyle/>
          <a:p>
            <a:r>
              <a:rPr lang="en-US" sz="3200" dirty="0"/>
              <a:t>Finds the majority class and will always predict it</a:t>
            </a:r>
          </a:p>
          <a:p>
            <a:r>
              <a:rPr lang="en-US" sz="3200" dirty="0"/>
              <a:t>Not learning anything from features</a:t>
            </a:r>
          </a:p>
          <a:p>
            <a:r>
              <a:rPr lang="en-US" sz="3200" dirty="0"/>
              <a:t>Designed as benchmark for future model performance</a:t>
            </a:r>
          </a:p>
        </p:txBody>
      </p:sp>
    </p:spTree>
    <p:extLst>
      <p:ext uri="{BB962C8B-B14F-4D97-AF65-F5344CB8AC3E}">
        <p14:creationId xmlns:p14="http://schemas.microsoft.com/office/powerpoint/2010/main" val="12930668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977C-F04C-6D57-2363-B858BCCBA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94360"/>
            <a:ext cx="10653578" cy="832104"/>
          </a:xfrm>
        </p:spPr>
        <p:txBody>
          <a:bodyPr/>
          <a:lstStyle/>
          <a:p>
            <a:pPr algn="ctr"/>
            <a:r>
              <a:rPr lang="en-US" dirty="0"/>
              <a:t>LogisticRegression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4043F-3A7F-36A5-D425-607FA1051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0" y="1581912"/>
            <a:ext cx="6355080" cy="3224157"/>
          </a:xfrm>
        </p:spPr>
        <p:txBody>
          <a:bodyPr>
            <a:normAutofit/>
          </a:bodyPr>
          <a:lstStyle/>
          <a:p>
            <a:r>
              <a:rPr lang="en-US" dirty="0"/>
              <a:t>Calculates weight or impact of features</a:t>
            </a:r>
          </a:p>
          <a:p>
            <a:r>
              <a:rPr lang="en-US" dirty="0"/>
              <a:t>Use the sigmoid function to covert score to probability</a:t>
            </a:r>
          </a:p>
          <a:p>
            <a:r>
              <a:rPr lang="en-US" dirty="0"/>
              <a:t>Combined probability used to predict breakout player label</a:t>
            </a:r>
          </a:p>
          <a:p>
            <a:r>
              <a:rPr lang="en-US" dirty="0"/>
              <a:t>Sigmoid function and Log loss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43CBC-2FFD-62AF-8C31-588C8CC3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70" y="1805730"/>
            <a:ext cx="4808662" cy="19582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48969E-F87F-7403-FF54-E6118FF8B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7628" y="4617720"/>
            <a:ext cx="7396743" cy="185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909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F5805-2944-32B5-0623-A6AF43AC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227" y="620194"/>
            <a:ext cx="5549293" cy="749808"/>
          </a:xfrm>
        </p:spPr>
        <p:txBody>
          <a:bodyPr/>
          <a:lstStyle/>
          <a:p>
            <a:r>
              <a:rPr lang="en-US" dirty="0"/>
              <a:t>Parameters Tunned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2CB30-5AD2-7D54-D497-B0A69C392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071" y="1642724"/>
            <a:ext cx="6427571" cy="4474612"/>
          </a:xfrm>
        </p:spPr>
        <p:txBody>
          <a:bodyPr>
            <a:noAutofit/>
          </a:bodyPr>
          <a:lstStyle/>
          <a:p>
            <a:r>
              <a:rPr lang="en-US" sz="2400" dirty="0"/>
              <a:t>Penalty specifies the regularization impact on the loss function</a:t>
            </a:r>
          </a:p>
          <a:p>
            <a:r>
              <a:rPr lang="en-US" sz="2400" dirty="0"/>
              <a:t>L1_ratio is the elastic net mixing parameter</a:t>
            </a:r>
          </a:p>
          <a:p>
            <a:r>
              <a:rPr lang="en-US" sz="2400" dirty="0"/>
              <a:t>Solver used for optimization problem</a:t>
            </a:r>
          </a:p>
          <a:p>
            <a:r>
              <a:rPr lang="en-US" sz="2400" dirty="0"/>
              <a:t>C is the inverse of regularization strength</a:t>
            </a:r>
          </a:p>
          <a:p>
            <a:r>
              <a:rPr lang="en-US" sz="2400" dirty="0" err="1"/>
              <a:t>Class_weight</a:t>
            </a:r>
            <a:r>
              <a:rPr lang="en-US" sz="2400" dirty="0"/>
              <a:t> adjusts the weights of classes from the default 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E23F7E-552D-5B7E-40AF-3E9101C8D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324" y="1370002"/>
            <a:ext cx="4654452" cy="4628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12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74C96-D5C5-9653-17D5-2E52BC5C1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91440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XGBoost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5ABFB-4BE7-70E1-08A7-544582238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11292841" cy="4593828"/>
          </a:xfrm>
        </p:spPr>
        <p:txBody>
          <a:bodyPr>
            <a:normAutofit/>
          </a:bodyPr>
          <a:lstStyle/>
          <a:p>
            <a:r>
              <a:rPr lang="en-US" sz="3200" dirty="0"/>
              <a:t>Utilizes decision trees to learn sequentially </a:t>
            </a:r>
          </a:p>
          <a:p>
            <a:r>
              <a:rPr lang="en-US" sz="3200" dirty="0"/>
              <a:t>Each tree that follows goal is to correct prediction errors</a:t>
            </a:r>
          </a:p>
          <a:p>
            <a:r>
              <a:rPr lang="en-US" sz="3200" dirty="0"/>
              <a:t>Combines output from gradient boosting into a probability value</a:t>
            </a:r>
          </a:p>
          <a:p>
            <a:r>
              <a:rPr lang="en-US" sz="3200" dirty="0"/>
              <a:t>Makes it class prediction based of this probability</a:t>
            </a:r>
          </a:p>
        </p:txBody>
      </p:sp>
    </p:spTree>
    <p:extLst>
      <p:ext uri="{BB962C8B-B14F-4D97-AF65-F5344CB8AC3E}">
        <p14:creationId xmlns:p14="http://schemas.microsoft.com/office/powerpoint/2010/main" val="1560713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A97F-165A-D099-B1A8-ECB30426A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407" y="731520"/>
            <a:ext cx="5276088" cy="795528"/>
          </a:xfrm>
        </p:spPr>
        <p:txBody>
          <a:bodyPr/>
          <a:lstStyle/>
          <a:p>
            <a:r>
              <a:rPr lang="en-US" dirty="0"/>
              <a:t>Parameters Tunned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4C9F22-3D98-2C8F-0710-161EB9F1F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191" y="1841538"/>
            <a:ext cx="6446521" cy="3578844"/>
          </a:xfrm>
        </p:spPr>
        <p:txBody>
          <a:bodyPr/>
          <a:lstStyle/>
          <a:p>
            <a:r>
              <a:rPr lang="en-US" sz="2400" dirty="0" err="1"/>
              <a:t>N_estimators</a:t>
            </a:r>
            <a:r>
              <a:rPr lang="en-US" sz="2400" dirty="0"/>
              <a:t> sets of number of rounds or trees for boosting</a:t>
            </a:r>
          </a:p>
          <a:p>
            <a:r>
              <a:rPr lang="en-US" sz="2400" dirty="0" err="1"/>
              <a:t>Max_depth</a:t>
            </a:r>
            <a:r>
              <a:rPr lang="en-US" sz="2400" dirty="0"/>
              <a:t> increases the depth of layers for each individual tree</a:t>
            </a:r>
          </a:p>
          <a:p>
            <a:r>
              <a:rPr lang="en-US" sz="2400" dirty="0" err="1"/>
              <a:t>Learning_rate</a:t>
            </a:r>
            <a:r>
              <a:rPr lang="en-US" sz="2400" dirty="0"/>
              <a:t> impact of each tree individually on the final prediction made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E8776A-8DCD-2BC5-4361-F2A6BC47E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0461" y="700493"/>
            <a:ext cx="4497019" cy="471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33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00D18-A8A9-918E-92ED-BCF1C2DC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427886"/>
            <a:ext cx="10653578" cy="715114"/>
          </a:xfrm>
        </p:spPr>
        <p:txBody>
          <a:bodyPr/>
          <a:lstStyle/>
          <a:p>
            <a:pPr algn="ctr"/>
            <a:r>
              <a:rPr lang="en-US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72193-DEF2-967B-3CFA-DFD8ED6A2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5271" y="1475016"/>
            <a:ext cx="6190489" cy="4593828"/>
          </a:xfrm>
        </p:spPr>
        <p:txBody>
          <a:bodyPr>
            <a:normAutofit/>
          </a:bodyPr>
          <a:lstStyle/>
          <a:p>
            <a:r>
              <a:rPr lang="en-US" sz="2400" dirty="0"/>
              <a:t>Confusion matrix shows the number of correct and incorrect predictions</a:t>
            </a:r>
          </a:p>
          <a:p>
            <a:r>
              <a:rPr lang="en-US" sz="2400" dirty="0"/>
              <a:t>Accuracy represents all predictions correctness</a:t>
            </a:r>
          </a:p>
          <a:p>
            <a:r>
              <a:rPr lang="en-US" sz="2400" dirty="0"/>
              <a:t>Precision measures how many prediction target were actually target</a:t>
            </a:r>
          </a:p>
          <a:p>
            <a:r>
              <a:rPr lang="en-US" sz="2400" dirty="0"/>
              <a:t>Recall total identification rate</a:t>
            </a:r>
          </a:p>
          <a:p>
            <a:r>
              <a:rPr lang="en-US" sz="2400" dirty="0"/>
              <a:t>F1-score balance of P/R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856E2F-C465-227F-D1DA-5D424E864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389888"/>
            <a:ext cx="4969135" cy="476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692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54BB1-54BF-91F0-3E67-B6A10D56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E7907-0397-79BC-CD50-2202AD9B1A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Results and Analysis</a:t>
            </a:r>
          </a:p>
        </p:txBody>
      </p:sp>
    </p:spTree>
    <p:extLst>
      <p:ext uri="{BB962C8B-B14F-4D97-AF65-F5344CB8AC3E}">
        <p14:creationId xmlns:p14="http://schemas.microsoft.com/office/powerpoint/2010/main" val="2505101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516D-3D27-B0D8-310B-2B009B9F2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4FC5-2AEF-7427-A680-10EE7FF03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0B886C-55C6-E93B-81B1-CD08FE120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0050405"/>
              </p:ext>
            </p:extLst>
          </p:nvPr>
        </p:nvGraphicFramePr>
        <p:xfrm>
          <a:off x="612648" y="1325880"/>
          <a:ext cx="10966578" cy="5273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6654">
                  <a:extLst>
                    <a:ext uri="{9D8B030D-6E8A-4147-A177-3AD203B41FA5}">
                      <a16:colId xmlns:a16="http://schemas.microsoft.com/office/drawing/2014/main" val="2131721601"/>
                    </a:ext>
                  </a:extLst>
                </a:gridCol>
                <a:gridCol w="1566654">
                  <a:extLst>
                    <a:ext uri="{9D8B030D-6E8A-4147-A177-3AD203B41FA5}">
                      <a16:colId xmlns:a16="http://schemas.microsoft.com/office/drawing/2014/main" val="853699643"/>
                    </a:ext>
                  </a:extLst>
                </a:gridCol>
                <a:gridCol w="1566654">
                  <a:extLst>
                    <a:ext uri="{9D8B030D-6E8A-4147-A177-3AD203B41FA5}">
                      <a16:colId xmlns:a16="http://schemas.microsoft.com/office/drawing/2014/main" val="3321786037"/>
                    </a:ext>
                  </a:extLst>
                </a:gridCol>
                <a:gridCol w="1566654">
                  <a:extLst>
                    <a:ext uri="{9D8B030D-6E8A-4147-A177-3AD203B41FA5}">
                      <a16:colId xmlns:a16="http://schemas.microsoft.com/office/drawing/2014/main" val="152933078"/>
                    </a:ext>
                  </a:extLst>
                </a:gridCol>
                <a:gridCol w="1566654">
                  <a:extLst>
                    <a:ext uri="{9D8B030D-6E8A-4147-A177-3AD203B41FA5}">
                      <a16:colId xmlns:a16="http://schemas.microsoft.com/office/drawing/2014/main" val="339079500"/>
                    </a:ext>
                  </a:extLst>
                </a:gridCol>
                <a:gridCol w="1566654">
                  <a:extLst>
                    <a:ext uri="{9D8B030D-6E8A-4147-A177-3AD203B41FA5}">
                      <a16:colId xmlns:a16="http://schemas.microsoft.com/office/drawing/2014/main" val="2675490252"/>
                    </a:ext>
                  </a:extLst>
                </a:gridCol>
                <a:gridCol w="1566654">
                  <a:extLst>
                    <a:ext uri="{9D8B030D-6E8A-4147-A177-3AD203B41FA5}">
                      <a16:colId xmlns:a16="http://schemas.microsoft.com/office/drawing/2014/main" val="1785942951"/>
                    </a:ext>
                  </a:extLst>
                </a:gridCol>
              </a:tblGrid>
              <a:tr h="1054769">
                <a:tc>
                  <a:txBody>
                    <a:bodyPr/>
                    <a:lstStyle/>
                    <a:p>
                      <a:r>
                        <a:rPr lang="en-US" dirty="0"/>
                        <a:t>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Training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Testing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0449375"/>
                  </a:ext>
                </a:extLst>
              </a:tr>
              <a:tr h="1054769">
                <a:tc>
                  <a:txBody>
                    <a:bodyPr/>
                    <a:lstStyle/>
                    <a:p>
                      <a:r>
                        <a:rPr lang="en-US" dirty="0"/>
                        <a:t>Naïve Majority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2887475"/>
                  </a:ext>
                </a:extLst>
              </a:tr>
              <a:tr h="1054769">
                <a:tc>
                  <a:txBody>
                    <a:bodyPr/>
                    <a:lstStyle/>
                    <a:p>
                      <a:r>
                        <a:rPr lang="en-US" dirty="0"/>
                        <a:t>Baseline Logistic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553041"/>
                  </a:ext>
                </a:extLst>
              </a:tr>
              <a:tr h="1054769">
                <a:tc>
                  <a:txBody>
                    <a:bodyPr/>
                    <a:lstStyle/>
                    <a:p>
                      <a:r>
                        <a:rPr lang="en-US" dirty="0"/>
                        <a:t>Tunned Logistic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10.0607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957923"/>
                  </a:ext>
                </a:extLst>
              </a:tr>
              <a:tr h="1054769">
                <a:tc>
                  <a:txBody>
                    <a:bodyPr/>
                    <a:lstStyle/>
                    <a:p>
                      <a:r>
                        <a:rPr lang="en-US" dirty="0"/>
                        <a:t>Tunned 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0.2910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83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368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47A97C-C3EE-9DAC-C539-028680A2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94" y="1024128"/>
            <a:ext cx="5881806" cy="49569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3085CD-0AAD-7EE9-3B6A-654E721C0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24128"/>
            <a:ext cx="5956070" cy="495696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E3B3987-1D95-1FCE-732F-684566BD5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92608"/>
            <a:ext cx="10653578" cy="731520"/>
          </a:xfrm>
        </p:spPr>
        <p:txBody>
          <a:bodyPr/>
          <a:lstStyle/>
          <a:p>
            <a:pPr algn="ctr"/>
            <a:r>
              <a:rPr lang="en-US" dirty="0"/>
              <a:t>Confusion Matrix </a:t>
            </a:r>
          </a:p>
        </p:txBody>
      </p:sp>
    </p:spTree>
    <p:extLst>
      <p:ext uri="{BB962C8B-B14F-4D97-AF65-F5344CB8AC3E}">
        <p14:creationId xmlns:p14="http://schemas.microsoft.com/office/powerpoint/2010/main" val="2450043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D2023-782C-4281-CA55-9C78B4CE1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F7AA412-ED9B-B865-9CA6-52175DC4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92608"/>
            <a:ext cx="10653578" cy="731520"/>
          </a:xfrm>
        </p:spPr>
        <p:txBody>
          <a:bodyPr/>
          <a:lstStyle/>
          <a:p>
            <a:pPr algn="ctr"/>
            <a:r>
              <a:rPr lang="en-US" dirty="0"/>
              <a:t>Confusion Matrix Continued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8B3EAF-EB29-6606-4F7E-1400B8CF3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8" y="1435527"/>
            <a:ext cx="5951622" cy="4751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7BD421-9142-5C6A-98D5-7E500E6DE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35527"/>
            <a:ext cx="5778068" cy="475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63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B39B-8D89-CDB4-87BC-D89CFA6EC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B6B8-92B5-1CB3-854C-B5F475E13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681446"/>
          </a:xfrm>
        </p:spPr>
        <p:txBody>
          <a:bodyPr/>
          <a:lstStyle/>
          <a:p>
            <a:pPr algn="ctr"/>
            <a:r>
              <a:rPr lang="en-US" dirty="0"/>
              <a:t>Statistical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AD5B02-71DF-6789-2AD0-74535E54BC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8900533"/>
              </p:ext>
            </p:extLst>
          </p:nvPr>
        </p:nvGraphicFramePr>
        <p:xfrm>
          <a:off x="612648" y="1387232"/>
          <a:ext cx="10653711" cy="49667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1237">
                  <a:extLst>
                    <a:ext uri="{9D8B030D-6E8A-4147-A177-3AD203B41FA5}">
                      <a16:colId xmlns:a16="http://schemas.microsoft.com/office/drawing/2014/main" val="1248045015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4065295112"/>
                    </a:ext>
                  </a:extLst>
                </a:gridCol>
                <a:gridCol w="3551237">
                  <a:extLst>
                    <a:ext uri="{9D8B030D-6E8A-4147-A177-3AD203B41FA5}">
                      <a16:colId xmlns:a16="http://schemas.microsoft.com/office/drawing/2014/main" val="461565849"/>
                    </a:ext>
                  </a:extLst>
                </a:gridCol>
              </a:tblGrid>
              <a:tr h="70953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Baseline vs XGBoost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Logistic vs XGBoost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021820"/>
                  </a:ext>
                </a:extLst>
              </a:tr>
              <a:tr h="709533">
                <a:tc>
                  <a:txBody>
                    <a:bodyPr/>
                    <a:lstStyle/>
                    <a:p>
                      <a:r>
                        <a:rPr lang="en-US" dirty="0"/>
                        <a:t>Paired t-statistic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-1.7391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-1.6546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053550"/>
                  </a:ext>
                </a:extLst>
              </a:tr>
              <a:tr h="709533">
                <a:tc>
                  <a:txBody>
                    <a:bodyPr/>
                    <a:lstStyle/>
                    <a:p>
                      <a:r>
                        <a:rPr lang="en-US" dirty="0"/>
                        <a:t>Paired 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285669"/>
                  </a:ext>
                </a:extLst>
              </a:tr>
              <a:tr h="709533">
                <a:tc>
                  <a:txBody>
                    <a:bodyPr/>
                    <a:lstStyle/>
                    <a:p>
                      <a:r>
                        <a:rPr lang="en-US" dirty="0"/>
                        <a:t>Paired significance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 to Reject 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Fail to Reject 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5110219"/>
                  </a:ext>
                </a:extLst>
              </a:tr>
              <a:tr h="709533">
                <a:tc>
                  <a:txBody>
                    <a:bodyPr/>
                    <a:lstStyle/>
                    <a:p>
                      <a:r>
                        <a:rPr lang="en-US" dirty="0"/>
                        <a:t>McNemar Chi-squared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21.9248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19.3798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098291"/>
                  </a:ext>
                </a:extLst>
              </a:tr>
              <a:tr h="709533">
                <a:tc>
                  <a:txBody>
                    <a:bodyPr/>
                    <a:lstStyle/>
                    <a:p>
                      <a:r>
                        <a:rPr lang="en-US" dirty="0"/>
                        <a:t>McNemar 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2442625"/>
                  </a:ext>
                </a:extLst>
              </a:tr>
              <a:tr h="709533">
                <a:tc>
                  <a:txBody>
                    <a:bodyPr/>
                    <a:lstStyle/>
                    <a:p>
                      <a:r>
                        <a:rPr lang="en-US" dirty="0"/>
                        <a:t>McNemar significance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Reject H0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Reject H0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0222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0905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6DDA27-F719-669D-56AE-E8FF7724F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93" y="1243585"/>
            <a:ext cx="5976707" cy="5392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CDC096-0747-B98B-D7BC-E75290DEF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43585"/>
            <a:ext cx="5932738" cy="5392993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AB5AF41-E98F-54A0-20CC-76A32590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211" y="320040"/>
            <a:ext cx="10653578" cy="681446"/>
          </a:xfrm>
        </p:spPr>
        <p:txBody>
          <a:bodyPr/>
          <a:lstStyle/>
          <a:p>
            <a:pPr algn="ctr"/>
            <a:r>
              <a:rPr lang="en-US" dirty="0"/>
              <a:t>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23179649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CEE90-6B0B-2441-FF8B-5C98A3B7A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0EDDF-3FDF-2C02-5B73-730C282BA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643" y="674714"/>
            <a:ext cx="5760720" cy="1132258"/>
          </a:xfrm>
        </p:spPr>
        <p:txBody>
          <a:bodyPr/>
          <a:lstStyle/>
          <a:p>
            <a:r>
              <a:rPr lang="en-US" dirty="0"/>
              <a:t>Overall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862E6-43B3-5BF9-5272-8C7753967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365" y="1589458"/>
            <a:ext cx="6080761" cy="4593828"/>
          </a:xfrm>
        </p:spPr>
        <p:txBody>
          <a:bodyPr/>
          <a:lstStyle/>
          <a:p>
            <a:r>
              <a:rPr lang="en-US" dirty="0"/>
              <a:t>Lack of significance indicates that my best model does not support my hypothesis</a:t>
            </a:r>
          </a:p>
          <a:p>
            <a:r>
              <a:rPr lang="en-US" dirty="0"/>
              <a:t>Lack of predictive power towards target</a:t>
            </a:r>
          </a:p>
          <a:p>
            <a:r>
              <a:rPr lang="en-US" dirty="0"/>
              <a:t>Model overfitting towards training data</a:t>
            </a:r>
          </a:p>
          <a:p>
            <a:r>
              <a:rPr lang="en-US" dirty="0"/>
              <a:t>Additional seasons won’t improve performance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7777C-19B9-8F5D-7AB6-A840422E5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948" y="996696"/>
            <a:ext cx="5537687" cy="467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857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0E7E5-05F8-850A-8ECC-E118017FF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5283B-1A89-B9E4-4E03-458E5DAF8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83274"/>
            <a:ext cx="10653578" cy="822960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B9B76-BF0D-4B61-DBED-5A7A69067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680898"/>
            <a:ext cx="10653579" cy="4593828"/>
          </a:xfrm>
        </p:spPr>
        <p:txBody>
          <a:bodyPr/>
          <a:lstStyle/>
          <a:p>
            <a:r>
              <a:rPr lang="en-US" sz="2800" dirty="0"/>
              <a:t>Benefitted seasonality well</a:t>
            </a:r>
          </a:p>
          <a:p>
            <a:r>
              <a:rPr lang="en-US" sz="2800" dirty="0"/>
              <a:t>Better at classifying target than previous attempts</a:t>
            </a:r>
          </a:p>
          <a:p>
            <a:r>
              <a:rPr lang="en-US" sz="2800" dirty="0"/>
              <a:t>Limited data and class imbalance impact</a:t>
            </a:r>
          </a:p>
          <a:p>
            <a:r>
              <a:rPr lang="en-US" sz="2800" dirty="0"/>
              <a:t>Model deployed would cause more harm than good</a:t>
            </a:r>
          </a:p>
          <a:p>
            <a:r>
              <a:rPr lang="en-US" sz="2800" dirty="0"/>
              <a:t>Sports data is difficult to work with</a:t>
            </a:r>
          </a:p>
          <a:p>
            <a:r>
              <a:rPr lang="en-US" sz="2800" dirty="0"/>
              <a:t>Amount of time spent researching</a:t>
            </a:r>
          </a:p>
          <a:p>
            <a:r>
              <a:rPr lang="en-US" sz="2800" dirty="0"/>
              <a:t>Importance of spending time exploring the dataset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1061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9CF9E-E004-8CA5-89BB-2D388A26C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25323-090F-FEF2-8577-FA7149E46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9184"/>
            <a:ext cx="10653578" cy="658368"/>
          </a:xfrm>
        </p:spPr>
        <p:txBody>
          <a:bodyPr/>
          <a:lstStyle/>
          <a:p>
            <a:pPr algn="ctr"/>
            <a:r>
              <a:rPr lang="en-US" dirty="0"/>
              <a:t>Sources/Citations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5BCB9-6F3F-D79E-B741-58087C4A8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9551" y="1166892"/>
            <a:ext cx="7812897" cy="5361924"/>
          </a:xfrm>
        </p:spPr>
        <p:txBody>
          <a:bodyPr/>
          <a:lstStyle/>
          <a:p>
            <a:r>
              <a:rPr lang="en-US" dirty="0"/>
              <a:t>Dummy Classifier Scikit Documentation</a:t>
            </a:r>
          </a:p>
          <a:p>
            <a:pPr marL="0" indent="0">
              <a:buNone/>
            </a:pPr>
            <a:r>
              <a:rPr lang="en-US" dirty="0" err="1">
                <a:hlinkClick r:id="rId2"/>
              </a:rPr>
              <a:t>DummyClassifier</a:t>
            </a:r>
            <a:r>
              <a:rPr lang="en-US" dirty="0">
                <a:hlinkClick r:id="rId2"/>
              </a:rPr>
              <a:t> — scikit-learn 1.9.0 documentation</a:t>
            </a:r>
            <a:endParaRPr lang="en-US" dirty="0"/>
          </a:p>
          <a:p>
            <a:r>
              <a:rPr lang="en-US" dirty="0"/>
              <a:t>Shift() Python Documentation</a:t>
            </a:r>
          </a:p>
          <a:p>
            <a:pPr marL="0" indent="0">
              <a:buNone/>
            </a:pPr>
            <a:r>
              <a:rPr lang="en-US" dirty="0" err="1">
                <a:hlinkClick r:id="rId3"/>
              </a:rPr>
              <a:t>pandas.DataFrame.shift</a:t>
            </a:r>
            <a:r>
              <a:rPr lang="en-US" dirty="0">
                <a:hlinkClick r:id="rId3"/>
              </a:rPr>
              <a:t> — pandas 3.0.5 documentation</a:t>
            </a:r>
            <a:endParaRPr lang="en-US" dirty="0"/>
          </a:p>
          <a:p>
            <a:r>
              <a:rPr lang="en-US" dirty="0"/>
              <a:t>Logistic Regression Scikit Documentation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LogisticRegression — scikit-learn 1.9.0 documentation</a:t>
            </a:r>
            <a:endParaRPr lang="en-US" dirty="0"/>
          </a:p>
          <a:p>
            <a:r>
              <a:rPr lang="en-US" dirty="0"/>
              <a:t>XGBoost Documentation (1)</a:t>
            </a:r>
          </a:p>
          <a:p>
            <a:pPr marL="0" indent="0">
              <a:buNone/>
            </a:pPr>
            <a:r>
              <a:rPr lang="en-US" dirty="0">
                <a:hlinkClick r:id="rId5"/>
              </a:rPr>
              <a:t>XGBoost Parameters — </a:t>
            </a:r>
            <a:r>
              <a:rPr lang="en-US" dirty="0" err="1">
                <a:hlinkClick r:id="rId5"/>
              </a:rPr>
              <a:t>xgboost</a:t>
            </a:r>
            <a:r>
              <a:rPr lang="en-US" dirty="0">
                <a:hlinkClick r:id="rId5"/>
              </a:rPr>
              <a:t> 3.3.0 documentation</a:t>
            </a:r>
            <a:endParaRPr lang="en-US" dirty="0"/>
          </a:p>
          <a:p>
            <a:r>
              <a:rPr lang="en-US" dirty="0"/>
              <a:t>XGBoost Parameter Information Documentation</a:t>
            </a:r>
          </a:p>
          <a:p>
            <a:pPr marL="0" indent="0">
              <a:buNone/>
            </a:pPr>
            <a:r>
              <a:rPr lang="en-US" dirty="0" err="1">
                <a:hlinkClick r:id="rId6"/>
              </a:rPr>
              <a:t>XGBClassifier</a:t>
            </a:r>
            <a:r>
              <a:rPr lang="en-US" dirty="0">
                <a:hlinkClick r:id="rId6"/>
              </a:rPr>
              <a:t> - </a:t>
            </a:r>
            <a:r>
              <a:rPr lang="en-US" dirty="0" err="1">
                <a:hlinkClick r:id="rId6"/>
              </a:rPr>
              <a:t>GeeksforGeeks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6297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A8C1E5-E563-9FA4-F136-6F576C9C0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F447467-474F-7A46-9B55-A89C6B0DA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LeBron James, for his final act, will try to find fulfillment in ...">
            <a:extLst>
              <a:ext uri="{FF2B5EF4-FFF2-40B4-BE49-F238E27FC236}">
                <a16:creationId xmlns:a16="http://schemas.microsoft.com/office/drawing/2014/main" id="{4634B2A7-139C-C8D9-D10A-4E8D135903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b="233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198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F4A502-B439-A1A2-7E46-47012CCDC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0980" y="1893965"/>
            <a:ext cx="4738347" cy="1986802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Thanks!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1998593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3918</TotalTime>
  <Words>949</Words>
  <Application>Microsoft Office PowerPoint</Application>
  <PresentationFormat>Widescreen</PresentationFormat>
  <Paragraphs>221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Neue Haas Grotesk Text Pro</vt:lpstr>
      <vt:lpstr>VanillaVTI</vt:lpstr>
      <vt:lpstr>NBA Breakout</vt:lpstr>
      <vt:lpstr>Agenda</vt:lpstr>
      <vt:lpstr>Problem Statement/Hypothesis</vt:lpstr>
      <vt:lpstr>Problem Information/Importance</vt:lpstr>
      <vt:lpstr>Research Question(s) and Hypothesis</vt:lpstr>
      <vt:lpstr>Data Engineering</vt:lpstr>
      <vt:lpstr>Dataset Details</vt:lpstr>
      <vt:lpstr>Exploratory Analysis</vt:lpstr>
      <vt:lpstr>PowerPoint Presentation</vt:lpstr>
      <vt:lpstr>Feature Scatterplot</vt:lpstr>
      <vt:lpstr>Preprocessing</vt:lpstr>
      <vt:lpstr>Feature Engineering</vt:lpstr>
      <vt:lpstr>Part 1 Target, .Shift(-1)</vt:lpstr>
      <vt:lpstr>Part 2 Target, Difference Values</vt:lpstr>
      <vt:lpstr>Part 3 Target Variable Creation</vt:lpstr>
      <vt:lpstr>Experiment Setup and Evaluation Metrics</vt:lpstr>
      <vt:lpstr>Explanation of Train/Val/Test</vt:lpstr>
      <vt:lpstr>Naïve Majority - DummyClassifier</vt:lpstr>
      <vt:lpstr>LogisticRegression</vt:lpstr>
      <vt:lpstr>Parameters Tunned</vt:lpstr>
      <vt:lpstr>XGBoost</vt:lpstr>
      <vt:lpstr>Parameters Tunned</vt:lpstr>
      <vt:lpstr>Evaluation Metrics</vt:lpstr>
      <vt:lpstr>Model Results and Analysis</vt:lpstr>
      <vt:lpstr>Model Comparison</vt:lpstr>
      <vt:lpstr>Confusion Matrix </vt:lpstr>
      <vt:lpstr>Confusion Matrix Continued </vt:lpstr>
      <vt:lpstr>Statistical Analysis</vt:lpstr>
      <vt:lpstr>Confidence Intervals</vt:lpstr>
      <vt:lpstr>Overall Interpretation</vt:lpstr>
      <vt:lpstr>Results</vt:lpstr>
      <vt:lpstr>Sources/Citations</vt:lpstr>
      <vt:lpstr>Thanks! 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Conor Eunson</dc:creator>
  <cp:lastModifiedBy>Conor Eunson</cp:lastModifiedBy>
  <cp:revision>6</cp:revision>
  <dcterms:created xsi:type="dcterms:W3CDTF">2026-08-04T06:18:57Z</dcterms:created>
  <dcterms:modified xsi:type="dcterms:W3CDTF">2026-08-08T02:02:25Z</dcterms:modified>
</cp:coreProperties>
</file>